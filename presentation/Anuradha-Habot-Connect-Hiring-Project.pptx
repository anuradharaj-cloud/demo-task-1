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myself briefly. The deck is fifteen slides and the whole submission rests on one idea, which is on slide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neither failure is a knowledge problem, so neither is fixed by telling people to be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submission in one view. Everything after it is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Stop on the containment property, which is the reason the write only identity is worth the extra service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single setting matters most: public access prevention set to enforced, because it survives changes made outside this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 role is the detail worth defending. It is one extra resource and it removes the ability to enumerate personal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question on cost or complexity here. The answer is that the second layer costs one view and removes a single point of failure over children's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a pipeline which can be merged around is a recommendation, and that the branch protection document is half of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pipefail point is the one most candidates miss. Be ready to explain why a pipe masks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to run the script live. It takes a few seconds and needs no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the schema mismatch half of the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is written into the warehouse beside the row, so any acceptance can be reconstructed years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Google Cloud account and no billing account are needed for any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this slide rather than waiting to be asked. Each item is a scope decision for a four to six hour project,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sentence, then invite questions. Offer to run the fail closed demonstration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A2B"/>
        </a:solidFill>
      </p:bgPr>
    </p:bg>
    <p:spTree>
      <p:nvGrpSpPr>
        <p:cNvPr id="1" name=""/>
        <p:cNvGrpSpPr/>
        <p:nvPr/>
      </p:nvGrpSpPr>
      <p:grpSpPr>
        <a:xfrm>
          <a:off x="0" y="0"/>
          <a:ext cx="0" cy="0"/>
          <a:chOff x="0" y="0"/>
          <a:chExt cx="0" cy="0"/>
        </a:xfrm>
      </p:grpSpPr>
      <p:sp>
        <p:nvSpPr>
          <p:cNvPr id="2" name="Text 0"/>
          <p:cNvSpPr txBox="1"/>
          <p:nvPr/>
        </p:nvSpPr>
        <p:spPr>
          <a:xfrm>
            <a:off x="566928" y="1325880"/>
            <a:ext cx="7680960" cy="713232"/>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Deployment and</a:t>
            </a:r>
            <a:endParaRPr lang="en-US" sz="4600" dirty="0"/>
          </a:p>
        </p:txBody>
      </p:sp>
      <p:sp>
        <p:nvSpPr>
          <p:cNvPr id="3" name="Text 1"/>
          <p:cNvSpPr txBox="1"/>
          <p:nvPr/>
        </p:nvSpPr>
        <p:spPr>
          <a:xfrm>
            <a:off x="566928" y="1993392"/>
            <a:ext cx="7680960" cy="713232"/>
          </a:xfrm>
          <a:prstGeom prst="rect">
            <a:avLst/>
          </a:prstGeom>
          <a:noFill/>
          <a:ln/>
        </p:spPr>
        <p:txBody>
          <a:bodyPr wrap="square" lIns="0" tIns="0" rIns="0" bIns="0" rtlCol="0" anchor="ctr"/>
          <a:lstStyle/>
          <a:p>
            <a:pPr indent="0" marL="0">
              <a:buNone/>
            </a:pPr>
            <a:r>
              <a:rPr lang="en-US" sz="4600" b="1" dirty="0">
                <a:solidFill>
                  <a:srgbClr val="CADCFC"/>
                </a:solidFill>
                <a:latin typeface="Cambria" pitchFamily="34" charset="0"/>
                <a:ea typeface="Cambria" pitchFamily="34" charset="-122"/>
                <a:cs typeface="Cambria" pitchFamily="34" charset="-120"/>
              </a:rPr>
              <a:t>Automation Blueprint</a:t>
            </a:r>
            <a:endParaRPr lang="en-US" sz="4600" dirty="0"/>
          </a:p>
        </p:txBody>
      </p:sp>
      <p:sp>
        <p:nvSpPr>
          <p:cNvPr id="4" name="Text 2"/>
          <p:cNvSpPr txBox="1"/>
          <p:nvPr/>
        </p:nvSpPr>
        <p:spPr>
          <a:xfrm>
            <a:off x="566928" y="2871216"/>
            <a:ext cx="7315200" cy="640080"/>
          </a:xfrm>
          <a:prstGeom prst="rect">
            <a:avLst/>
          </a:prstGeom>
          <a:noFill/>
          <a:ln/>
        </p:spPr>
        <p:txBody>
          <a:bodyPr wrap="square" lIns="0" tIns="0" rIns="0" bIns="0" rtlCol="0" anchor="ctr"/>
          <a:lstStyle/>
          <a:p>
            <a:pPr indent="0" marL="0">
              <a:buNone/>
            </a:pPr>
            <a:r>
              <a:rPr lang="en-US" sz="1500" dirty="0">
                <a:solidFill>
                  <a:srgbClr val="9FB3C8"/>
                </a:solidFill>
                <a:latin typeface="Calibri" pitchFamily="34" charset="0"/>
                <a:ea typeface="Calibri" pitchFamily="34" charset="-122"/>
                <a:cs typeface="Calibri" pitchFamily="34" charset="-120"/>
              </a:rPr>
              <a:t>Secure staging provisioning, a fail closed build gate, and validation that removes human judgement.</a:t>
            </a:r>
            <a:endParaRPr lang="en-US" sz="1500" dirty="0"/>
          </a:p>
        </p:txBody>
      </p:sp>
      <p:sp>
        <p:nvSpPr>
          <p:cNvPr id="5" name="Shape 3"/>
          <p:cNvSpPr/>
          <p:nvPr/>
        </p:nvSpPr>
        <p:spPr>
          <a:xfrm>
            <a:off x="8503920" y="1325880"/>
            <a:ext cx="3108960" cy="2286000"/>
          </a:xfrm>
          <a:prstGeom prst="roundRect">
            <a:avLst>
              <a:gd name="adj" fmla="val 2400"/>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6" name="Text 4"/>
          <p:cNvSpPr txBox="1"/>
          <p:nvPr/>
        </p:nvSpPr>
        <p:spPr>
          <a:xfrm>
            <a:off x="8732520" y="1554480"/>
            <a:ext cx="2651760" cy="1828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Anuradha
</a:t>
            </a:r>
            <a:pPr indent="0" marL="0">
              <a:buNone/>
            </a:pPr>
            <a:r>
              <a:rPr lang="en-US" sz="1200" dirty="0">
                <a:solidFill>
                  <a:srgbClr val="CADCFC"/>
                </a:solidFill>
                <a:latin typeface="Calibri" pitchFamily="34" charset="0"/>
                <a:ea typeface="Calibri" pitchFamily="34" charset="-122"/>
                <a:cs typeface="Calibri" pitchFamily="34" charset="-120"/>
              </a:rPr>
              <a:t>anuradha@tecofize.com
</a:t>
            </a:r>
            <a:pPr indent="0" marL="0">
              <a:buNone/>
            </a:pPr>
            <a:r>
              <a:rPr lang="en-US" sz="1200" dirty="0">
                <a:solidFill>
                  <a:srgbClr val="9FB3C8"/>
                </a:solidFill>
                <a:latin typeface="Calibri" pitchFamily="34" charset="0"/>
                <a:ea typeface="Calibri" pitchFamily="34" charset="-122"/>
                <a:cs typeface="Calibri" pitchFamily="34" charset="-120"/>
              </a:rPr>
              <a:t>Junior Cloud and Development
Operations Engineer
</a:t>
            </a:r>
            <a:pPr indent="0" marL="0">
              <a:buNone/>
            </a:pPr>
            <a:r>
              <a:rPr lang="en-US" sz="1200" dirty="0">
                <a:solidFill>
                  <a:srgbClr val="9FB3C8"/>
                </a:solidFill>
                <a:latin typeface="Calibri" pitchFamily="34" charset="0"/>
                <a:ea typeface="Calibri" pitchFamily="34" charset="-122"/>
                <a:cs typeface="Calibri" pitchFamily="34" charset="-120"/>
              </a:rPr>
              <a:t>Habot Connect FZCO, Dubai</a:t>
            </a:r>
            <a:endParaRPr lang="en-US" sz="1700" dirty="0"/>
          </a:p>
          <a:p>
            <a:pPr indent="0" marL="0">
              <a:buNone/>
            </a:pPr>
            <a:r>
              <a:rPr lang="en-US" sz="1200" dirty="0">
                <a:solidFill>
                  <a:srgbClr val="9FB3C8"/>
                </a:solidFill>
                <a:latin typeface="Calibri" pitchFamily="34" charset="0"/>
                <a:ea typeface="Calibri" pitchFamily="34" charset="-122"/>
                <a:cs typeface="Calibri" pitchFamily="34" charset="-120"/>
              </a:rPr>
              <a:t>September 2026</a:t>
            </a:r>
            <a:endParaRPr lang="en-US" sz="1700" dirty="0"/>
          </a:p>
        </p:txBody>
      </p:sp>
      <p:sp>
        <p:nvSpPr>
          <p:cNvPr id="7" name="Shape 5"/>
          <p:cNvSpPr/>
          <p:nvPr/>
        </p:nvSpPr>
        <p:spPr>
          <a:xfrm>
            <a:off x="566928" y="3794760"/>
            <a:ext cx="3493008" cy="1234440"/>
          </a:xfrm>
          <a:prstGeom prst="roundRect">
            <a:avLst>
              <a:gd name="adj" fmla="val 4444"/>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8" name="Text 6"/>
          <p:cNvSpPr txBox="1"/>
          <p:nvPr/>
        </p:nvSpPr>
        <p:spPr>
          <a:xfrm>
            <a:off x="804672" y="3986784"/>
            <a:ext cx="3017520" cy="237744"/>
          </a:xfrm>
          <a:prstGeom prst="rect">
            <a:avLst/>
          </a:prstGeom>
          <a:noFill/>
          <a:ln/>
        </p:spPr>
        <p:txBody>
          <a:bodyPr wrap="square" lIns="0" tIns="0" rIns="0" bIns="0" rtlCol="0" anchor="ctr"/>
          <a:lstStyle/>
          <a:p>
            <a:pPr indent="0" marL="0">
              <a:buNone/>
            </a:pPr>
            <a:r>
              <a:rPr lang="en-US" sz="1000" b="1" spc="160" kern="0" dirty="0">
                <a:solidFill>
                  <a:srgbClr val="6E8299"/>
                </a:solidFill>
                <a:latin typeface="Calibri" pitchFamily="34" charset="0"/>
                <a:ea typeface="Calibri" pitchFamily="34" charset="-122"/>
                <a:cs typeface="Calibri" pitchFamily="34" charset="-120"/>
              </a:rPr>
              <a:t>TASK ONE</a:t>
            </a:r>
            <a:endParaRPr lang="en-US" sz="1000" dirty="0"/>
          </a:p>
        </p:txBody>
      </p:sp>
      <p:sp>
        <p:nvSpPr>
          <p:cNvPr id="9" name="Text 7"/>
          <p:cNvSpPr txBox="1"/>
          <p:nvPr/>
        </p:nvSpPr>
        <p:spPr>
          <a:xfrm>
            <a:off x="804672" y="4261104"/>
            <a:ext cx="3054096" cy="6400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Terraform secure staging</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provisioning</a:t>
            </a:r>
            <a:endParaRPr lang="en-US" sz="1300" dirty="0"/>
          </a:p>
        </p:txBody>
      </p:sp>
      <p:sp>
        <p:nvSpPr>
          <p:cNvPr id="10" name="Shape 8"/>
          <p:cNvSpPr/>
          <p:nvPr/>
        </p:nvSpPr>
        <p:spPr>
          <a:xfrm>
            <a:off x="4352544" y="3794760"/>
            <a:ext cx="3493008" cy="1234440"/>
          </a:xfrm>
          <a:prstGeom prst="roundRect">
            <a:avLst>
              <a:gd name="adj" fmla="val 4444"/>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11" name="Text 9"/>
          <p:cNvSpPr txBox="1"/>
          <p:nvPr/>
        </p:nvSpPr>
        <p:spPr>
          <a:xfrm>
            <a:off x="4590288" y="3986784"/>
            <a:ext cx="3017520" cy="237744"/>
          </a:xfrm>
          <a:prstGeom prst="rect">
            <a:avLst/>
          </a:prstGeom>
          <a:noFill/>
          <a:ln/>
        </p:spPr>
        <p:txBody>
          <a:bodyPr wrap="square" lIns="0" tIns="0" rIns="0" bIns="0" rtlCol="0" anchor="ctr"/>
          <a:lstStyle/>
          <a:p>
            <a:pPr indent="0" marL="0">
              <a:buNone/>
            </a:pPr>
            <a:r>
              <a:rPr lang="en-US" sz="1000" b="1" spc="160" kern="0" dirty="0">
                <a:solidFill>
                  <a:srgbClr val="6E8299"/>
                </a:solidFill>
                <a:latin typeface="Calibri" pitchFamily="34" charset="0"/>
                <a:ea typeface="Calibri" pitchFamily="34" charset="-122"/>
                <a:cs typeface="Calibri" pitchFamily="34" charset="-120"/>
              </a:rPr>
              <a:t>TASK TWO</a:t>
            </a:r>
            <a:endParaRPr lang="en-US" sz="1000" dirty="0"/>
          </a:p>
        </p:txBody>
      </p:sp>
      <p:sp>
        <p:nvSpPr>
          <p:cNvPr id="12" name="Text 10"/>
          <p:cNvSpPr txBox="1"/>
          <p:nvPr/>
        </p:nvSpPr>
        <p:spPr>
          <a:xfrm>
            <a:off x="4590288" y="4261104"/>
            <a:ext cx="3054096" cy="6400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A fail closed automated</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build gate</a:t>
            </a:r>
            <a:endParaRPr lang="en-US" sz="1300" dirty="0"/>
          </a:p>
        </p:txBody>
      </p:sp>
      <p:sp>
        <p:nvSpPr>
          <p:cNvPr id="13" name="Shape 11"/>
          <p:cNvSpPr/>
          <p:nvPr/>
        </p:nvSpPr>
        <p:spPr>
          <a:xfrm>
            <a:off x="8138160" y="3794760"/>
            <a:ext cx="3493008" cy="1234440"/>
          </a:xfrm>
          <a:prstGeom prst="roundRect">
            <a:avLst>
              <a:gd name="adj" fmla="val 4444"/>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14" name="Text 12"/>
          <p:cNvSpPr txBox="1"/>
          <p:nvPr/>
        </p:nvSpPr>
        <p:spPr>
          <a:xfrm>
            <a:off x="8375904" y="3986784"/>
            <a:ext cx="3017520" cy="237744"/>
          </a:xfrm>
          <a:prstGeom prst="rect">
            <a:avLst/>
          </a:prstGeom>
          <a:noFill/>
          <a:ln/>
        </p:spPr>
        <p:txBody>
          <a:bodyPr wrap="square" lIns="0" tIns="0" rIns="0" bIns="0" rtlCol="0" anchor="ctr"/>
          <a:lstStyle/>
          <a:p>
            <a:pPr indent="0" marL="0">
              <a:buNone/>
            </a:pPr>
            <a:r>
              <a:rPr lang="en-US" sz="1000" b="1" spc="160" kern="0" dirty="0">
                <a:solidFill>
                  <a:srgbClr val="6E8299"/>
                </a:solidFill>
                <a:latin typeface="Calibri" pitchFamily="34" charset="0"/>
                <a:ea typeface="Calibri" pitchFamily="34" charset="-122"/>
                <a:cs typeface="Calibri" pitchFamily="34" charset="-120"/>
              </a:rPr>
              <a:t>TASK THREE</a:t>
            </a:r>
            <a:endParaRPr lang="en-US" sz="1000" dirty="0"/>
          </a:p>
        </p:txBody>
      </p:sp>
      <p:sp>
        <p:nvSpPr>
          <p:cNvPr id="15" name="Text 13"/>
          <p:cNvSpPr txBox="1"/>
          <p:nvPr/>
        </p:nvSpPr>
        <p:spPr>
          <a:xfrm>
            <a:off x="8375904" y="4261104"/>
            <a:ext cx="3054096" cy="6400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Schema mapping and yes or</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no validation</a:t>
            </a:r>
            <a:endParaRPr lang="en-US" sz="1300" dirty="0"/>
          </a:p>
        </p:txBody>
      </p:sp>
      <p:sp>
        <p:nvSpPr>
          <p:cNvPr id="16" name="Text 14"/>
          <p:cNvSpPr txBox="1"/>
          <p:nvPr/>
        </p:nvSpPr>
        <p:spPr>
          <a:xfrm>
            <a:off x="566928" y="5532120"/>
            <a:ext cx="10058400" cy="457200"/>
          </a:xfrm>
          <a:prstGeom prst="rect">
            <a:avLst/>
          </a:prstGeom>
          <a:noFill/>
          <a:ln/>
        </p:spPr>
        <p:txBody>
          <a:bodyPr wrap="square" lIns="0" tIns="0" rIns="0" bIns="0" rtlCol="0" anchor="ctr"/>
          <a:lstStyle/>
          <a:p>
            <a:pPr indent="0" marL="0">
              <a:buNone/>
            </a:pPr>
            <a:r>
              <a:rPr lang="en-US" sz="1400" i="1" dirty="0">
                <a:solidFill>
                  <a:srgbClr val="9FB3C8"/>
                </a:solidFill>
                <a:latin typeface="Cambria" pitchFamily="34" charset="0"/>
                <a:ea typeface="Cambria" pitchFamily="34" charset="-122"/>
                <a:cs typeface="Cambria" pitchFamily="34" charset="-120"/>
              </a:rPr>
              <a:t>We do not rely on hope or human memory to prevent bugs. We build automated mistake proofing.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THE INCIDENT</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Two failures, one cause</a:t>
            </a:r>
            <a:endParaRPr lang="en-US" sz="3200" dirty="0"/>
          </a:p>
        </p:txBody>
      </p:sp>
      <p:sp>
        <p:nvSpPr>
          <p:cNvPr id="4" name="Shape 2"/>
          <p:cNvSpPr/>
          <p:nvPr/>
        </p:nvSpPr>
        <p:spPr>
          <a:xfrm>
            <a:off x="566928" y="1572768"/>
            <a:ext cx="5394960" cy="1755648"/>
          </a:xfrm>
          <a:prstGeom prst="roundRect">
            <a:avLst>
              <a:gd name="adj" fmla="val 3125"/>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Shape 3"/>
          <p:cNvSpPr/>
          <p:nvPr/>
        </p:nvSpPr>
        <p:spPr>
          <a:xfrm>
            <a:off x="841248" y="1810512"/>
            <a:ext cx="384048" cy="384048"/>
          </a:xfrm>
          <a:prstGeom prst="ellipse">
            <a:avLst/>
          </a:prstGeom>
          <a:solidFill>
            <a:srgbClr val="C1272D"/>
          </a:solidFill>
          <a:ln/>
        </p:spPr>
      </p:sp>
      <p:sp>
        <p:nvSpPr>
          <p:cNvPr id="6" name="Text 4"/>
          <p:cNvSpPr txBox="1"/>
          <p:nvPr/>
        </p:nvSpPr>
        <p:spPr>
          <a:xfrm>
            <a:off x="841248" y="1810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71600" y="1828800"/>
            <a:ext cx="4389120" cy="310896"/>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A credential in plain text</a:t>
            </a:r>
            <a:endParaRPr lang="en-US" sz="1600" dirty="0"/>
          </a:p>
        </p:txBody>
      </p:sp>
      <p:sp>
        <p:nvSpPr>
          <p:cNvPr id="8" name="Text 6"/>
          <p:cNvSpPr txBox="1"/>
          <p:nvPr/>
        </p:nvSpPr>
        <p:spPr>
          <a:xfrm>
            <a:off x="841248" y="2249424"/>
            <a:ext cx="4846320" cy="914400"/>
          </a:xfrm>
          <a:prstGeom prst="rect">
            <a:avLst/>
          </a:prstGeom>
          <a:noFill/>
          <a:ln/>
        </p:spPr>
        <p:txBody>
          <a:bodyPr wrap="square" lIns="0" tIns="0" rIns="0" bIns="0" rtlCol="0" anchor="ctr"/>
          <a:lstStyle/>
          <a:p>
            <a:pPr indent="0" marL="0">
              <a:buNone/>
            </a:pPr>
            <a:r>
              <a:rPr lang="en-US" sz="1300" dirty="0">
                <a:solidFill>
                  <a:srgbClr val="44566C"/>
                </a:solidFill>
                <a:latin typeface="Calibri" pitchFamily="34" charset="0"/>
                <a:ea typeface="Calibri" pitchFamily="34" charset="-122"/>
                <a:cs typeface="Calibri" pitchFamily="34" charset="-120"/>
              </a:rPr>
              <a:t>An update bypassed the security guidelines and left unencrypted application programming interface credentials in raw application code.</a:t>
            </a:r>
            <a:endParaRPr lang="en-US" sz="1300" dirty="0"/>
          </a:p>
        </p:txBody>
      </p:sp>
      <p:sp>
        <p:nvSpPr>
          <p:cNvPr id="9" name="Shape 7"/>
          <p:cNvSpPr/>
          <p:nvPr/>
        </p:nvSpPr>
        <p:spPr>
          <a:xfrm>
            <a:off x="6236208" y="1572768"/>
            <a:ext cx="5394960" cy="1755648"/>
          </a:xfrm>
          <a:prstGeom prst="roundRect">
            <a:avLst>
              <a:gd name="adj" fmla="val 3125"/>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0" name="Shape 8"/>
          <p:cNvSpPr/>
          <p:nvPr/>
        </p:nvSpPr>
        <p:spPr>
          <a:xfrm>
            <a:off x="6510528" y="1810512"/>
            <a:ext cx="384048" cy="384048"/>
          </a:xfrm>
          <a:prstGeom prst="ellipse">
            <a:avLst/>
          </a:prstGeom>
          <a:solidFill>
            <a:srgbClr val="C1272D"/>
          </a:solidFill>
          <a:ln/>
        </p:spPr>
      </p:sp>
      <p:sp>
        <p:nvSpPr>
          <p:cNvPr id="11" name="Text 9"/>
          <p:cNvSpPr txBox="1"/>
          <p:nvPr/>
        </p:nvSpPr>
        <p:spPr>
          <a:xfrm>
            <a:off x="6510528" y="1810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7040880" y="1828800"/>
            <a:ext cx="4389120" cy="310896"/>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A schema mismatch</a:t>
            </a:r>
            <a:endParaRPr lang="en-US" sz="1600" dirty="0"/>
          </a:p>
        </p:txBody>
      </p:sp>
      <p:sp>
        <p:nvSpPr>
          <p:cNvPr id="13" name="Text 11"/>
          <p:cNvSpPr txBox="1"/>
          <p:nvPr/>
        </p:nvSpPr>
        <p:spPr>
          <a:xfrm>
            <a:off x="6510528" y="2249424"/>
            <a:ext cx="4846320" cy="914400"/>
          </a:xfrm>
          <a:prstGeom prst="rect">
            <a:avLst/>
          </a:prstGeom>
          <a:noFill/>
          <a:ln/>
        </p:spPr>
        <p:txBody>
          <a:bodyPr wrap="square" lIns="0" tIns="0" rIns="0" bIns="0" rtlCol="0" anchor="ctr"/>
          <a:lstStyle/>
          <a:p>
            <a:pPr indent="0" marL="0">
              <a:buNone/>
            </a:pPr>
            <a:r>
              <a:rPr lang="en-US" sz="1300" dirty="0">
                <a:solidFill>
                  <a:srgbClr val="44566C"/>
                </a:solidFill>
                <a:latin typeface="Calibri" pitchFamily="34" charset="0"/>
                <a:ea typeface="Calibri" pitchFamily="34" charset="-122"/>
                <a:cs typeface="Calibri" pitchFamily="34" charset="-120"/>
              </a:rPr>
              <a:t>The same update changed the application model without changing the warehouse, and downstream analytics broke silently.</a:t>
            </a:r>
            <a:endParaRPr lang="en-US" sz="1300" dirty="0"/>
          </a:p>
        </p:txBody>
      </p:sp>
      <p:sp>
        <p:nvSpPr>
          <p:cNvPr id="14" name="Shape 12"/>
          <p:cNvSpPr/>
          <p:nvPr/>
        </p:nvSpPr>
        <p:spPr>
          <a:xfrm>
            <a:off x="566928" y="3584448"/>
            <a:ext cx="11064240" cy="2240280"/>
          </a:xfrm>
          <a:prstGeom prst="roundRect">
            <a:avLst>
              <a:gd name="adj" fmla="val 2449"/>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15" name="Text 13"/>
          <p:cNvSpPr txBox="1"/>
          <p:nvPr/>
        </p:nvSpPr>
        <p:spPr>
          <a:xfrm>
            <a:off x="932688" y="3840480"/>
            <a:ext cx="10332720" cy="384048"/>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Both were possible for the same reason.</a:t>
            </a:r>
            <a:endParaRPr lang="en-US" sz="2200" dirty="0"/>
          </a:p>
        </p:txBody>
      </p:sp>
      <p:sp>
        <p:nvSpPr>
          <p:cNvPr id="16" name="Text 14"/>
          <p:cNvSpPr txBox="1"/>
          <p:nvPr/>
        </p:nvSpPr>
        <p:spPr>
          <a:xfrm>
            <a:off x="932688" y="4352544"/>
            <a:ext cx="10332720" cy="1371600"/>
          </a:xfrm>
          <a:prstGeom prst="rect">
            <a:avLst/>
          </a:prstGeom>
          <a:noFill/>
          <a:ln/>
        </p:spPr>
        <p:txBody>
          <a:bodyPr wrap="square" lIns="0" tIns="0" rIns="0" bIns="0" rtlCol="0" anchor="ctr"/>
          <a:lstStyle/>
          <a:p>
            <a:pPr indent="0" marL="0">
              <a:buNone/>
            </a:pPr>
            <a:r>
              <a:rPr lang="en-US" sz="1350" dirty="0">
                <a:solidFill>
                  <a:srgbClr val="22303F"/>
                </a:solidFill>
                <a:latin typeface="Calibri" pitchFamily="34" charset="0"/>
                <a:ea typeface="Calibri" pitchFamily="34" charset="-122"/>
                <a:cs typeface="Calibri" pitchFamily="34" charset="-120"/>
              </a:rPr>
              <a:t>A person was trusted to remember something. Remember not to paste the key. Remember to update the warehouse when you change the model.</a:t>
            </a:r>
            <a:endParaRPr lang="en-US" sz="1350" dirty="0"/>
          </a:p>
          <a:p>
            <a:pPr indent="0" marL="0">
              <a:buNone/>
            </a:pPr>
            <a:endParaRPr lang="en-US" sz="1350" dirty="0"/>
          </a:p>
          <a:p>
            <a:pPr indent="0" marL="0">
              <a:buNone/>
            </a:pPr>
            <a:r>
              <a:rPr lang="en-US" sz="1350" dirty="0">
                <a:solidFill>
                  <a:srgbClr val="22303F"/>
                </a:solidFill>
                <a:latin typeface="Calibri" pitchFamily="34" charset="0"/>
                <a:ea typeface="Calibri" pitchFamily="34" charset="-122"/>
                <a:cs typeface="Calibri" pitchFamily="34" charset="-120"/>
              </a:rPr>
              <a:t>Neither is a knowledge problem, so neither is solved by training, documentation or a code review checklist. Every control in this submission replaces a thing a person must remember with a thing a machine refuses to allow.</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THE PRINCIPLE</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Remember, or refuse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3200400"/>
                <a:gridCol w="5303520"/>
                <a:gridCol w="25603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a person had to remember</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refuses it instead</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it lives</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Do not commit a credential</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secret scan of the full commit history that halts the build and quarantines the commit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Gate one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Do not grant more access than needed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Conditional bindings scoped to one object path, and a custom role granting exactly one permission</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identity-and-access-management.tf</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Keep the serializer and the warehouse in step</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consistency gate comparing them in four directions on every commit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Gate four</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Use the right field limits</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One field contract that the model, the serializer, the rule set and the workbook all read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field_contract.py</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Judge whether a submission is acceptable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Seventy four rules, each answering a question whose only answers are yes and no</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rules.py</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Run the formatter before pushing</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formatting check that fails the build rather than reformatting quietly</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44566C"/>
                          </a:solidFill>
                          <a:latin typeface="Calibri" pitchFamily="34" charset="0"/>
                          <a:ea typeface="Calibri" pitchFamily="34" charset="-122"/>
                          <a:cs typeface="Calibri" pitchFamily="34" charset="-120"/>
                        </a:rPr>
                        <a:t>Gates two and three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138928"/>
            <a:ext cx="11064240" cy="1170432"/>
          </a:xfrm>
          <a:prstGeom prst="roundRect">
            <a:avLst>
              <a:gd name="adj" fmla="val 4688"/>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6" name="Text 3"/>
          <p:cNvSpPr txBox="1"/>
          <p:nvPr/>
        </p:nvSpPr>
        <p:spPr>
          <a:xfrm>
            <a:off x="932688" y="5358384"/>
            <a:ext cx="10332720" cy="329184"/>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 rule is a Golden Rule only when breaking it is impossible, not when it is discouraged.</a:t>
            </a:r>
            <a:endParaRPr lang="en-US" sz="1700" dirty="0"/>
          </a:p>
        </p:txBody>
      </p:sp>
      <p:sp>
        <p:nvSpPr>
          <p:cNvPr id="7" name="Text 4"/>
          <p:cNvSpPr txBox="1"/>
          <p:nvPr/>
        </p:nvSpPr>
        <p:spPr>
          <a:xfrm>
            <a:off x="932688" y="5742432"/>
            <a:ext cx="10332720" cy="457200"/>
          </a:xfrm>
          <a:prstGeom prst="rect">
            <a:avLst/>
          </a:prstGeom>
          <a:noFill/>
          <a:ln/>
        </p:spPr>
        <p:txBody>
          <a:bodyPr wrap="square" lIns="0" tIns="0" rIns="0" bIns="0" rtlCol="0" anchor="ctr"/>
          <a:lstStyle/>
          <a:p>
            <a:pPr indent="0" marL="0">
              <a:buNone/>
            </a:pPr>
            <a:r>
              <a:rPr lang="en-US" sz="1250" dirty="0">
                <a:solidFill>
                  <a:srgbClr val="22303F"/>
                </a:solidFill>
                <a:latin typeface="Calibri" pitchFamily="34" charset="0"/>
                <a:ea typeface="Calibri" pitchFamily="34" charset="-122"/>
                <a:cs typeface="Calibri" pitchFamily="34" charset="-120"/>
              </a:rPr>
              <a:t>Anything held up by a code review, a checklist, a wiki page or an onboarding conversation is a recommendation. It works until somebody is tired, or new, or shipping at half past six on a Friday.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One submission, five stages</a:t>
            </a:r>
            <a:endParaRPr lang="en-US" sz="3200" dirty="0"/>
          </a:p>
        </p:txBody>
      </p:sp>
      <p:sp>
        <p:nvSpPr>
          <p:cNvPr id="4" name="Shape 2"/>
          <p:cNvSpPr/>
          <p:nvPr/>
        </p:nvSpPr>
        <p:spPr>
          <a:xfrm>
            <a:off x="566928" y="1783080"/>
            <a:ext cx="1993392" cy="2048256"/>
          </a:xfrm>
          <a:prstGeom prst="roundRect">
            <a:avLst>
              <a:gd name="adj" fmla="val 2752"/>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Shape 3"/>
          <p:cNvSpPr/>
          <p:nvPr/>
        </p:nvSpPr>
        <p:spPr>
          <a:xfrm>
            <a:off x="731520" y="1938528"/>
            <a:ext cx="384048" cy="384048"/>
          </a:xfrm>
          <a:prstGeom prst="ellipse">
            <a:avLst/>
          </a:prstGeom>
          <a:solidFill>
            <a:srgbClr val="5C7A99"/>
          </a:solidFill>
          <a:ln/>
        </p:spPr>
      </p:sp>
      <p:sp>
        <p:nvSpPr>
          <p:cNvPr id="6" name="Text 4"/>
          <p:cNvSpPr txBox="1"/>
          <p:nvPr/>
        </p:nvSpPr>
        <p:spPr>
          <a:xfrm>
            <a:off x="731520"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713232" y="2432304"/>
            <a:ext cx="1719072" cy="53035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Application</a:t>
            </a:r>
            <a:endParaRPr lang="en-US" sz="1300" dirty="0"/>
          </a:p>
        </p:txBody>
      </p:sp>
      <p:sp>
        <p:nvSpPr>
          <p:cNvPr id="8" name="Text 6"/>
          <p:cNvSpPr txBox="1"/>
          <p:nvPr/>
        </p:nvSpPr>
        <p:spPr>
          <a:xfrm>
            <a:off x="713232" y="2999232"/>
            <a:ext cx="1737360" cy="1097280"/>
          </a:xfrm>
          <a:prstGeom prst="rect">
            <a:avLst/>
          </a:prstGeom>
          <a:noFill/>
          <a:ln/>
        </p:spPr>
        <p:txBody>
          <a:bodyPr wrap="square" lIns="0" tIns="0" rIns="0" bIns="0" rtlCol="0" anchor="t"/>
          <a:lstStyle/>
          <a:p>
            <a:pPr indent="0" marL="0">
              <a:buNone/>
            </a:pPr>
            <a:r>
              <a:rPr lang="en-US" sz="1000" dirty="0">
                <a:solidFill>
                  <a:srgbClr val="44566C"/>
                </a:solidFill>
                <a:latin typeface="Calibri" pitchFamily="34" charset="0"/>
                <a:ea typeface="Calibri" pitchFamily="34" charset="-122"/>
                <a:cs typeface="Calibri" pitchFamily="34" charset="-120"/>
              </a:rPr>
              <a:t>Serializer fields built from the contract. An unknown field is refused, never dropped.</a:t>
            </a:r>
            <a:endParaRPr lang="en-US" sz="1000" dirty="0"/>
          </a:p>
        </p:txBody>
      </p:sp>
      <p:sp>
        <p:nvSpPr>
          <p:cNvPr id="9" name="Shape 7"/>
          <p:cNvSpPr/>
          <p:nvPr/>
        </p:nvSpPr>
        <p:spPr>
          <a:xfrm>
            <a:off x="2578608" y="2834640"/>
            <a:ext cx="237744" cy="182880"/>
          </a:xfrm>
          <a:prstGeom prst="rightArrow">
            <a:avLst/>
          </a:prstGeom>
          <a:solidFill>
            <a:srgbClr val="9AAABC"/>
          </a:solidFill>
          <a:ln/>
        </p:spPr>
      </p:sp>
      <p:sp>
        <p:nvSpPr>
          <p:cNvPr id="10" name="Shape 8"/>
          <p:cNvSpPr/>
          <p:nvPr/>
        </p:nvSpPr>
        <p:spPr>
          <a:xfrm>
            <a:off x="2834640" y="1783080"/>
            <a:ext cx="1993392" cy="2048256"/>
          </a:xfrm>
          <a:prstGeom prst="roundRect">
            <a:avLst>
              <a:gd name="adj" fmla="val 2752"/>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1" name="Shape 9"/>
          <p:cNvSpPr/>
          <p:nvPr/>
        </p:nvSpPr>
        <p:spPr>
          <a:xfrm>
            <a:off x="2999232" y="1938528"/>
            <a:ext cx="384048" cy="384048"/>
          </a:xfrm>
          <a:prstGeom prst="ellipse">
            <a:avLst/>
          </a:prstGeom>
          <a:solidFill>
            <a:srgbClr val="1E2761"/>
          </a:solidFill>
          <a:ln/>
        </p:spPr>
      </p:sp>
      <p:sp>
        <p:nvSpPr>
          <p:cNvPr id="12" name="Text 10"/>
          <p:cNvSpPr txBox="1"/>
          <p:nvPr/>
        </p:nvSpPr>
        <p:spPr>
          <a:xfrm>
            <a:off x="2999232"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2980944" y="2432304"/>
            <a:ext cx="1719072" cy="53035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D0 Raw Landing</a:t>
            </a:r>
            <a:endParaRPr lang="en-US" sz="1300" dirty="0"/>
          </a:p>
        </p:txBody>
      </p:sp>
      <p:sp>
        <p:nvSpPr>
          <p:cNvPr id="14" name="Text 12"/>
          <p:cNvSpPr txBox="1"/>
          <p:nvPr/>
        </p:nvSpPr>
        <p:spPr>
          <a:xfrm>
            <a:off x="2980944" y="2999232"/>
            <a:ext cx="1737360" cy="1097280"/>
          </a:xfrm>
          <a:prstGeom prst="rect">
            <a:avLst/>
          </a:prstGeom>
          <a:noFill/>
          <a:ln/>
        </p:spPr>
        <p:txBody>
          <a:bodyPr wrap="square" lIns="0" tIns="0" rIns="0" bIns="0" rtlCol="0" anchor="t"/>
          <a:lstStyle/>
          <a:p>
            <a:pPr indent="0" marL="0">
              <a:buNone/>
            </a:pPr>
            <a:r>
              <a:rPr lang="en-US" sz="1000" dirty="0">
                <a:solidFill>
                  <a:srgbClr val="44566C"/>
                </a:solidFill>
                <a:latin typeface="Calibri" pitchFamily="34" charset="0"/>
                <a:ea typeface="Calibri" pitchFamily="34" charset="-122"/>
                <a:cs typeface="Calibri" pitchFamily="34" charset="-120"/>
              </a:rPr>
              <a:t>Customer managed key. Public access prevented. Objects deleted after thirty days.</a:t>
            </a:r>
            <a:endParaRPr lang="en-US" sz="1000" dirty="0"/>
          </a:p>
        </p:txBody>
      </p:sp>
      <p:sp>
        <p:nvSpPr>
          <p:cNvPr id="15" name="Shape 13"/>
          <p:cNvSpPr/>
          <p:nvPr/>
        </p:nvSpPr>
        <p:spPr>
          <a:xfrm>
            <a:off x="4846320" y="2834640"/>
            <a:ext cx="237744" cy="182880"/>
          </a:xfrm>
          <a:prstGeom prst="rightArrow">
            <a:avLst/>
          </a:prstGeom>
          <a:solidFill>
            <a:srgbClr val="9AAABC"/>
          </a:solidFill>
          <a:ln/>
        </p:spPr>
      </p:sp>
      <p:sp>
        <p:nvSpPr>
          <p:cNvPr id="16" name="Shape 14"/>
          <p:cNvSpPr/>
          <p:nvPr/>
        </p:nvSpPr>
        <p:spPr>
          <a:xfrm>
            <a:off x="5102352" y="1783080"/>
            <a:ext cx="1993392" cy="2048256"/>
          </a:xfrm>
          <a:prstGeom prst="roundRect">
            <a:avLst>
              <a:gd name="adj" fmla="val 2752"/>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7" name="Shape 15"/>
          <p:cNvSpPr/>
          <p:nvPr/>
        </p:nvSpPr>
        <p:spPr>
          <a:xfrm>
            <a:off x="5266944" y="1938528"/>
            <a:ext cx="384048" cy="384048"/>
          </a:xfrm>
          <a:prstGeom prst="ellipse">
            <a:avLst/>
          </a:prstGeom>
          <a:solidFill>
            <a:srgbClr val="5C7A99"/>
          </a:solidFill>
          <a:ln/>
        </p:spPr>
      </p:sp>
      <p:sp>
        <p:nvSpPr>
          <p:cNvPr id="18" name="Text 16"/>
          <p:cNvSpPr txBox="1"/>
          <p:nvPr/>
        </p:nvSpPr>
        <p:spPr>
          <a:xfrm>
            <a:off x="5266944"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5248656" y="2432304"/>
            <a:ext cx="1719072" cy="53035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Transformation</a:t>
            </a:r>
            <a:endParaRPr lang="en-US" sz="1300" dirty="0"/>
          </a:p>
        </p:txBody>
      </p:sp>
      <p:sp>
        <p:nvSpPr>
          <p:cNvPr id="20" name="Text 18"/>
          <p:cNvSpPr txBox="1"/>
          <p:nvPr/>
        </p:nvSpPr>
        <p:spPr>
          <a:xfrm>
            <a:off x="5248656" y="2999232"/>
            <a:ext cx="1737360" cy="1097280"/>
          </a:xfrm>
          <a:prstGeom prst="rect">
            <a:avLst/>
          </a:prstGeom>
          <a:noFill/>
          <a:ln/>
        </p:spPr>
        <p:txBody>
          <a:bodyPr wrap="square" lIns="0" tIns="0" rIns="0" bIns="0" rtlCol="0" anchor="t"/>
          <a:lstStyle/>
          <a:p>
            <a:pPr indent="0" marL="0">
              <a:buNone/>
            </a:pPr>
            <a:r>
              <a:rPr lang="en-US" sz="1000" dirty="0">
                <a:solidFill>
                  <a:srgbClr val="44566C"/>
                </a:solidFill>
                <a:latin typeface="Calibri" pitchFamily="34" charset="0"/>
                <a:ea typeface="Calibri" pitchFamily="34" charset="-122"/>
                <a:cs typeface="Calibri" pitchFamily="34" charset="-120"/>
              </a:rPr>
              <a:t>Runs the same validation library again, so the two answers cannot diverge.</a:t>
            </a:r>
            <a:endParaRPr lang="en-US" sz="1000" dirty="0"/>
          </a:p>
        </p:txBody>
      </p:sp>
      <p:sp>
        <p:nvSpPr>
          <p:cNvPr id="21" name="Shape 19"/>
          <p:cNvSpPr/>
          <p:nvPr/>
        </p:nvSpPr>
        <p:spPr>
          <a:xfrm>
            <a:off x="7114032" y="2834640"/>
            <a:ext cx="237744" cy="182880"/>
          </a:xfrm>
          <a:prstGeom prst="rightArrow">
            <a:avLst/>
          </a:prstGeom>
          <a:solidFill>
            <a:srgbClr val="9AAABC"/>
          </a:solidFill>
          <a:ln/>
        </p:spPr>
      </p:sp>
      <p:sp>
        <p:nvSpPr>
          <p:cNvPr id="22" name="Shape 20"/>
          <p:cNvSpPr/>
          <p:nvPr/>
        </p:nvSpPr>
        <p:spPr>
          <a:xfrm>
            <a:off x="7370064" y="1783080"/>
            <a:ext cx="1993392" cy="2048256"/>
          </a:xfrm>
          <a:prstGeom prst="roundRect">
            <a:avLst>
              <a:gd name="adj" fmla="val 2752"/>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23" name="Shape 21"/>
          <p:cNvSpPr/>
          <p:nvPr/>
        </p:nvSpPr>
        <p:spPr>
          <a:xfrm>
            <a:off x="7534656" y="1938528"/>
            <a:ext cx="384048" cy="384048"/>
          </a:xfrm>
          <a:prstGeom prst="ellipse">
            <a:avLst/>
          </a:prstGeom>
          <a:solidFill>
            <a:srgbClr val="5C7A99"/>
          </a:solidFill>
          <a:ln/>
        </p:spPr>
      </p:sp>
      <p:sp>
        <p:nvSpPr>
          <p:cNvPr id="24" name="Text 22"/>
          <p:cNvSpPr txBox="1"/>
          <p:nvPr/>
        </p:nvSpPr>
        <p:spPr>
          <a:xfrm>
            <a:off x="7534656"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516368" y="2432304"/>
            <a:ext cx="1719072" cy="53035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D1 Staged and Enforced</a:t>
            </a:r>
            <a:endParaRPr lang="en-US" sz="1300" dirty="0"/>
          </a:p>
        </p:txBody>
      </p:sp>
      <p:sp>
        <p:nvSpPr>
          <p:cNvPr id="26" name="Text 24"/>
          <p:cNvSpPr txBox="1"/>
          <p:nvPr/>
        </p:nvSpPr>
        <p:spPr>
          <a:xfrm>
            <a:off x="7516368" y="2999232"/>
            <a:ext cx="1737360" cy="1097280"/>
          </a:xfrm>
          <a:prstGeom prst="rect">
            <a:avLst/>
          </a:prstGeom>
          <a:noFill/>
          <a:ln/>
        </p:spPr>
        <p:txBody>
          <a:bodyPr wrap="square" lIns="0" tIns="0" rIns="0" bIns="0" rtlCol="0" anchor="t"/>
          <a:lstStyle/>
          <a:p>
            <a:pPr indent="0" marL="0">
              <a:buNone/>
            </a:pPr>
            <a:r>
              <a:rPr lang="en-US" sz="1000" dirty="0">
                <a:solidFill>
                  <a:srgbClr val="44566C"/>
                </a:solidFill>
                <a:latin typeface="Calibri" pitchFamily="34" charset="0"/>
                <a:ea typeface="Calibri" pitchFamily="34" charset="-122"/>
                <a:cs typeface="Calibri" pitchFamily="34" charset="-120"/>
              </a:rPr>
              <a:t>Partitioned and clustered. Native row access policy on the table.</a:t>
            </a:r>
            <a:endParaRPr lang="en-US" sz="1000" dirty="0"/>
          </a:p>
        </p:txBody>
      </p:sp>
      <p:sp>
        <p:nvSpPr>
          <p:cNvPr id="27" name="Shape 25"/>
          <p:cNvSpPr/>
          <p:nvPr/>
        </p:nvSpPr>
        <p:spPr>
          <a:xfrm>
            <a:off x="9381744" y="2834640"/>
            <a:ext cx="237744" cy="182880"/>
          </a:xfrm>
          <a:prstGeom prst="rightArrow">
            <a:avLst/>
          </a:prstGeom>
          <a:solidFill>
            <a:srgbClr val="9AAABC"/>
          </a:solidFill>
          <a:ln/>
        </p:spPr>
      </p:sp>
      <p:sp>
        <p:nvSpPr>
          <p:cNvPr id="28" name="Shape 26"/>
          <p:cNvSpPr/>
          <p:nvPr/>
        </p:nvSpPr>
        <p:spPr>
          <a:xfrm>
            <a:off x="9637776" y="1783080"/>
            <a:ext cx="1993392" cy="2048256"/>
          </a:xfrm>
          <a:prstGeom prst="roundRect">
            <a:avLst>
              <a:gd name="adj" fmla="val 2752"/>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29" name="Shape 27"/>
          <p:cNvSpPr/>
          <p:nvPr/>
        </p:nvSpPr>
        <p:spPr>
          <a:xfrm>
            <a:off x="9802368" y="1938528"/>
            <a:ext cx="384048" cy="384048"/>
          </a:xfrm>
          <a:prstGeom prst="ellipse">
            <a:avLst/>
          </a:prstGeom>
          <a:solidFill>
            <a:srgbClr val="5C7A99"/>
          </a:solidFill>
          <a:ln/>
        </p:spPr>
      </p:sp>
      <p:sp>
        <p:nvSpPr>
          <p:cNvPr id="30" name="Text 28"/>
          <p:cNvSpPr txBox="1"/>
          <p:nvPr/>
        </p:nvSpPr>
        <p:spPr>
          <a:xfrm>
            <a:off x="9802368" y="19385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1" name="Text 29"/>
          <p:cNvSpPr txBox="1"/>
          <p:nvPr/>
        </p:nvSpPr>
        <p:spPr>
          <a:xfrm>
            <a:off x="9784080" y="2432304"/>
            <a:ext cx="1719072" cy="53035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Reporting view</a:t>
            </a:r>
            <a:endParaRPr lang="en-US" sz="1300" dirty="0"/>
          </a:p>
        </p:txBody>
      </p:sp>
      <p:sp>
        <p:nvSpPr>
          <p:cNvPr id="32" name="Text 30"/>
          <p:cNvSpPr txBox="1"/>
          <p:nvPr/>
        </p:nvSpPr>
        <p:spPr>
          <a:xfrm>
            <a:off x="9784080" y="2999232"/>
            <a:ext cx="1737360" cy="1097280"/>
          </a:xfrm>
          <a:prstGeom prst="rect">
            <a:avLst/>
          </a:prstGeom>
          <a:noFill/>
          <a:ln/>
        </p:spPr>
        <p:txBody>
          <a:bodyPr wrap="square" lIns="0" tIns="0" rIns="0" bIns="0" rtlCol="0" anchor="t"/>
          <a:lstStyle/>
          <a:p>
            <a:pPr indent="0" marL="0">
              <a:buNone/>
            </a:pPr>
            <a:r>
              <a:rPr lang="en-US" sz="1000" dirty="0">
                <a:solidFill>
                  <a:srgbClr val="44566C"/>
                </a:solidFill>
                <a:latin typeface="Calibri" pitchFamily="34" charset="0"/>
                <a:ea typeface="Calibri" pitchFamily="34" charset="-122"/>
                <a:cs typeface="Calibri" pitchFamily="34" charset="-120"/>
              </a:rPr>
              <a:t>Authorised view only. The reader holds no permission on the table.</a:t>
            </a:r>
            <a:endParaRPr lang="en-US" sz="1000" dirty="0"/>
          </a:p>
        </p:txBody>
      </p:sp>
      <p:sp>
        <p:nvSpPr>
          <p:cNvPr id="33" name="Shape 31"/>
          <p:cNvSpPr/>
          <p:nvPr/>
        </p:nvSpPr>
        <p:spPr>
          <a:xfrm>
            <a:off x="566928" y="4224528"/>
            <a:ext cx="11064240" cy="1572768"/>
          </a:xfrm>
          <a:prstGeom prst="roundRect">
            <a:avLst>
              <a:gd name="adj" fmla="val 3488"/>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34" name="Text 32"/>
          <p:cNvSpPr txBox="1"/>
          <p:nvPr/>
        </p:nvSpPr>
        <p:spPr>
          <a:xfrm>
            <a:off x="932688" y="4498848"/>
            <a:ext cx="10332720" cy="114300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containment property.  </a:t>
            </a:r>
            <a:pPr indent="0" marL="0">
              <a:buNone/>
            </a:pPr>
            <a:r>
              <a:rPr lang="en-US" sz="1300" dirty="0">
                <a:solidFill>
                  <a:srgbClr val="22303F"/>
                </a:solidFill>
                <a:latin typeface="Calibri" pitchFamily="34" charset="0"/>
                <a:ea typeface="Calibri" pitchFamily="34" charset="-122"/>
                <a:cs typeface="Calibri" pitchFamily="34" charset="-120"/>
              </a:rPr>
              <a:t>The ingestion identity can create an object and do nothing else. It cannot read what it wrote and it cannot list the bucket. If the web application is compromised tomorrow, the attacker gains the ability to add onboarding records. They gain no ability to read one existing family's data, and no ability to enumerate what is there.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ONE. INFRASTRUCTURE AS CODE</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estate, and why each control is there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651760"/>
                <a:gridCol w="2286000"/>
                <a:gridCol w="612648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mistake it makes impossible</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Uniform bucket level access</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true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Removes per object access control lists, so no engineer can make one file public and never notice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Public access prevention</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enforced</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Enforced rather than inherited, so a policy change made elsewhere cannot open this bucket</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Customer managed encryption</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Rotating every ninety days</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Habot Connect holds the key; rotation happens on a schedule nobody has to remember</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Lifecycle deletion</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Thirty days</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Raw personal data of children is removed automatically once promoted, with no cleanup task to forget</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Forced destruction</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Refused</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A populated bucket of children's data cannot be deleted by one command</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Partition filter</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Required</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No query can scan the whole table by accident, which bounds both cost and exposure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Every variable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Carries a validation rule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00" dirty="0">
                          <a:solidFill>
                            <a:srgbClr val="22303F"/>
                          </a:solidFill>
                          <a:latin typeface="Calibri" pitchFamily="34" charset="0"/>
                          <a:ea typeface="Calibri" pitchFamily="34" charset="-122"/>
                          <a:cs typeface="Calibri" pitchFamily="34" charset="-120"/>
                        </a:rPr>
                        <a:t>A value that would produce an insecure estate is refused at plan time, before any call is made</a:t>
                      </a:r>
                      <a:endParaRPr lang="en-US" sz="11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ONE. LEAST PRIVILEGE</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Three identities, no overlap</a:t>
            </a:r>
            <a:endParaRPr lang="en-US" sz="3200" dirty="0"/>
          </a:p>
        </p:txBody>
      </p:sp>
      <p:sp>
        <p:nvSpPr>
          <p:cNvPr id="4" name="Shape 2"/>
          <p:cNvSpPr/>
          <p:nvPr/>
        </p:nvSpPr>
        <p:spPr>
          <a:xfrm>
            <a:off x="566928" y="1737360"/>
            <a:ext cx="3493008" cy="2834640"/>
          </a:xfrm>
          <a:prstGeom prst="roundRect">
            <a:avLst>
              <a:gd name="adj" fmla="val 1935"/>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Text 3"/>
          <p:cNvSpPr txBox="1"/>
          <p:nvPr/>
        </p:nvSpPr>
        <p:spPr>
          <a:xfrm>
            <a:off x="768096" y="1938528"/>
            <a:ext cx="3200400" cy="457200"/>
          </a:xfrm>
          <a:prstGeom prst="rect">
            <a:avLst/>
          </a:prstGeom>
          <a:noFill/>
          <a:ln/>
        </p:spPr>
        <p:txBody>
          <a:bodyPr wrap="square" lIns="0" tIns="0" rIns="0" bIns="0" rtlCol="0" anchor="ctr"/>
          <a:lstStyle/>
          <a:p>
            <a:pPr indent="0" marL="0">
              <a:buNone/>
            </a:pPr>
            <a:r>
              <a:rPr lang="en-US" sz="1100" b="1" dirty="0">
                <a:solidFill>
                  <a:srgbClr val="1E2761"/>
                </a:solidFill>
                <a:latin typeface="Courier New" pitchFamily="34" charset="0"/>
                <a:ea typeface="Courier New" pitchFamily="34" charset="-122"/>
                <a:cs typeface="Courier New" pitchFamily="34" charset="-120"/>
              </a:rPr>
              <a:t>onboarding-ingestion-writer</a:t>
            </a:r>
            <a:endParaRPr lang="en-US" sz="1100" dirty="0"/>
          </a:p>
        </p:txBody>
      </p:sp>
      <p:sp>
        <p:nvSpPr>
          <p:cNvPr id="6" name="Text 4"/>
          <p:cNvSpPr txBox="1"/>
          <p:nvPr/>
        </p:nvSpPr>
        <p:spPr>
          <a:xfrm>
            <a:off x="768096" y="2487168"/>
            <a:ext cx="3200400" cy="219456"/>
          </a:xfrm>
          <a:prstGeom prst="rect">
            <a:avLst/>
          </a:prstGeom>
          <a:noFill/>
          <a:ln/>
        </p:spPr>
        <p:txBody>
          <a:bodyPr wrap="square" lIns="0" tIns="0" rIns="0" bIns="0" rtlCol="0" anchor="ctr"/>
          <a:lstStyle/>
          <a:p>
            <a:pPr indent="0" marL="0">
              <a:buNone/>
            </a:pPr>
            <a:r>
              <a:rPr lang="en-US" sz="1000" b="1" spc="150" kern="0" dirty="0">
                <a:solidFill>
                  <a:srgbClr val="1B7F5F"/>
                </a:solidFill>
                <a:latin typeface="Calibri" pitchFamily="34" charset="0"/>
                <a:ea typeface="Calibri" pitchFamily="34" charset="-122"/>
                <a:cs typeface="Calibri" pitchFamily="34" charset="-120"/>
              </a:rPr>
              <a:t>CAN</a:t>
            </a:r>
            <a:endParaRPr lang="en-US" sz="1000" dirty="0"/>
          </a:p>
        </p:txBody>
      </p:sp>
      <p:sp>
        <p:nvSpPr>
          <p:cNvPr id="7" name="Text 5"/>
          <p:cNvSpPr txBox="1"/>
          <p:nvPr/>
        </p:nvSpPr>
        <p:spPr>
          <a:xfrm>
            <a:off x="768096" y="2724912"/>
            <a:ext cx="3200400" cy="658368"/>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Create an object beneath</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student-onboarding/</a:t>
            </a:r>
            <a:endParaRPr lang="en-US" sz="1150" dirty="0"/>
          </a:p>
        </p:txBody>
      </p:sp>
      <p:sp>
        <p:nvSpPr>
          <p:cNvPr id="8" name="Text 6"/>
          <p:cNvSpPr txBox="1"/>
          <p:nvPr/>
        </p:nvSpPr>
        <p:spPr>
          <a:xfrm>
            <a:off x="768096" y="3456432"/>
            <a:ext cx="3200400" cy="219456"/>
          </a:xfrm>
          <a:prstGeom prst="rect">
            <a:avLst/>
          </a:prstGeom>
          <a:noFill/>
          <a:ln/>
        </p:spPr>
        <p:txBody>
          <a:bodyPr wrap="square" lIns="0" tIns="0" rIns="0" bIns="0" rtlCol="0" anchor="ctr"/>
          <a:lstStyle/>
          <a:p>
            <a:pPr indent="0" marL="0">
              <a:buNone/>
            </a:pPr>
            <a:r>
              <a:rPr lang="en-US" sz="1000" b="1" spc="150" kern="0" dirty="0">
                <a:solidFill>
                  <a:srgbClr val="C1272D"/>
                </a:solidFill>
                <a:latin typeface="Calibri" pitchFamily="34" charset="0"/>
                <a:ea typeface="Calibri" pitchFamily="34" charset="-122"/>
                <a:cs typeface="Calibri" pitchFamily="34" charset="-120"/>
              </a:rPr>
              <a:t>CANNOT</a:t>
            </a:r>
            <a:endParaRPr lang="en-US" sz="1000" dirty="0"/>
          </a:p>
        </p:txBody>
      </p:sp>
      <p:sp>
        <p:nvSpPr>
          <p:cNvPr id="9" name="Text 7"/>
          <p:cNvSpPr txBox="1"/>
          <p:nvPr/>
        </p:nvSpPr>
        <p:spPr>
          <a:xfrm>
            <a:off x="768096" y="3694176"/>
            <a:ext cx="3200400" cy="777240"/>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Read any object.</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List the bucket.</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Reach BigQuery at all.</a:t>
            </a:r>
            <a:endParaRPr lang="en-US" sz="1150" dirty="0"/>
          </a:p>
        </p:txBody>
      </p:sp>
      <p:sp>
        <p:nvSpPr>
          <p:cNvPr id="10" name="Shape 8"/>
          <p:cNvSpPr/>
          <p:nvPr/>
        </p:nvSpPr>
        <p:spPr>
          <a:xfrm>
            <a:off x="4352544" y="1737360"/>
            <a:ext cx="3493008" cy="2834640"/>
          </a:xfrm>
          <a:prstGeom prst="roundRect">
            <a:avLst>
              <a:gd name="adj" fmla="val 1935"/>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1" name="Text 9"/>
          <p:cNvSpPr txBox="1"/>
          <p:nvPr/>
        </p:nvSpPr>
        <p:spPr>
          <a:xfrm>
            <a:off x="4553712" y="1938528"/>
            <a:ext cx="3200400" cy="457200"/>
          </a:xfrm>
          <a:prstGeom prst="rect">
            <a:avLst/>
          </a:prstGeom>
          <a:noFill/>
          <a:ln/>
        </p:spPr>
        <p:txBody>
          <a:bodyPr wrap="square" lIns="0" tIns="0" rIns="0" bIns="0" rtlCol="0" anchor="ctr"/>
          <a:lstStyle/>
          <a:p>
            <a:pPr indent="0" marL="0">
              <a:buNone/>
            </a:pPr>
            <a:r>
              <a:rPr lang="en-US" sz="1100" b="1" dirty="0">
                <a:solidFill>
                  <a:srgbClr val="1E2761"/>
                </a:solidFill>
                <a:latin typeface="Courier New" pitchFamily="34" charset="0"/>
                <a:ea typeface="Courier New" pitchFamily="34" charset="-122"/>
                <a:cs typeface="Courier New" pitchFamily="34" charset="-120"/>
              </a:rPr>
              <a:t>onboarding-transformation-runner</a:t>
            </a:r>
            <a:endParaRPr lang="en-US" sz="1100" dirty="0"/>
          </a:p>
        </p:txBody>
      </p:sp>
      <p:sp>
        <p:nvSpPr>
          <p:cNvPr id="12" name="Text 10"/>
          <p:cNvSpPr txBox="1"/>
          <p:nvPr/>
        </p:nvSpPr>
        <p:spPr>
          <a:xfrm>
            <a:off x="4553712" y="2487168"/>
            <a:ext cx="3200400" cy="219456"/>
          </a:xfrm>
          <a:prstGeom prst="rect">
            <a:avLst/>
          </a:prstGeom>
          <a:noFill/>
          <a:ln/>
        </p:spPr>
        <p:txBody>
          <a:bodyPr wrap="square" lIns="0" tIns="0" rIns="0" bIns="0" rtlCol="0" anchor="ctr"/>
          <a:lstStyle/>
          <a:p>
            <a:pPr indent="0" marL="0">
              <a:buNone/>
            </a:pPr>
            <a:r>
              <a:rPr lang="en-US" sz="1000" b="1" spc="150" kern="0" dirty="0">
                <a:solidFill>
                  <a:srgbClr val="1B7F5F"/>
                </a:solidFill>
                <a:latin typeface="Calibri" pitchFamily="34" charset="0"/>
                <a:ea typeface="Calibri" pitchFamily="34" charset="-122"/>
                <a:cs typeface="Calibri" pitchFamily="34" charset="-120"/>
              </a:rPr>
              <a:t>CAN</a:t>
            </a:r>
            <a:endParaRPr lang="en-US" sz="1000" dirty="0"/>
          </a:p>
        </p:txBody>
      </p:sp>
      <p:sp>
        <p:nvSpPr>
          <p:cNvPr id="13" name="Text 11"/>
          <p:cNvSpPr txBox="1"/>
          <p:nvPr/>
        </p:nvSpPr>
        <p:spPr>
          <a:xfrm>
            <a:off x="4553712" y="2724912"/>
            <a:ext cx="3200400" cy="658368"/>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Read that same path.</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Append rows to the table.</a:t>
            </a:r>
            <a:endParaRPr lang="en-US" sz="1150" dirty="0"/>
          </a:p>
        </p:txBody>
      </p:sp>
      <p:sp>
        <p:nvSpPr>
          <p:cNvPr id="14" name="Text 12"/>
          <p:cNvSpPr txBox="1"/>
          <p:nvPr/>
        </p:nvSpPr>
        <p:spPr>
          <a:xfrm>
            <a:off x="4553712" y="3456432"/>
            <a:ext cx="3200400" cy="219456"/>
          </a:xfrm>
          <a:prstGeom prst="rect">
            <a:avLst/>
          </a:prstGeom>
          <a:noFill/>
          <a:ln/>
        </p:spPr>
        <p:txBody>
          <a:bodyPr wrap="square" lIns="0" tIns="0" rIns="0" bIns="0" rtlCol="0" anchor="ctr"/>
          <a:lstStyle/>
          <a:p>
            <a:pPr indent="0" marL="0">
              <a:buNone/>
            </a:pPr>
            <a:r>
              <a:rPr lang="en-US" sz="1000" b="1" spc="150" kern="0" dirty="0">
                <a:solidFill>
                  <a:srgbClr val="C1272D"/>
                </a:solidFill>
                <a:latin typeface="Calibri" pitchFamily="34" charset="0"/>
                <a:ea typeface="Calibri" pitchFamily="34" charset="-122"/>
                <a:cs typeface="Calibri" pitchFamily="34" charset="-120"/>
              </a:rPr>
              <a:t>CANNOT</a:t>
            </a:r>
            <a:endParaRPr lang="en-US" sz="1000" dirty="0"/>
          </a:p>
        </p:txBody>
      </p:sp>
      <p:sp>
        <p:nvSpPr>
          <p:cNvPr id="15" name="Text 13"/>
          <p:cNvSpPr txBox="1"/>
          <p:nvPr/>
        </p:nvSpPr>
        <p:spPr>
          <a:xfrm>
            <a:off x="4553712" y="3694176"/>
            <a:ext cx="3200400" cy="777240"/>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Delete data.</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Change the table schema.</a:t>
            </a:r>
            <a:endParaRPr lang="en-US" sz="1150" dirty="0"/>
          </a:p>
        </p:txBody>
      </p:sp>
      <p:sp>
        <p:nvSpPr>
          <p:cNvPr id="16" name="Shape 14"/>
          <p:cNvSpPr/>
          <p:nvPr/>
        </p:nvSpPr>
        <p:spPr>
          <a:xfrm>
            <a:off x="8138160" y="1737360"/>
            <a:ext cx="3493008" cy="2834640"/>
          </a:xfrm>
          <a:prstGeom prst="roundRect">
            <a:avLst>
              <a:gd name="adj" fmla="val 1935"/>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7" name="Text 15"/>
          <p:cNvSpPr txBox="1"/>
          <p:nvPr/>
        </p:nvSpPr>
        <p:spPr>
          <a:xfrm>
            <a:off x="8339328" y="1938528"/>
            <a:ext cx="3200400" cy="457200"/>
          </a:xfrm>
          <a:prstGeom prst="rect">
            <a:avLst/>
          </a:prstGeom>
          <a:noFill/>
          <a:ln/>
        </p:spPr>
        <p:txBody>
          <a:bodyPr wrap="square" lIns="0" tIns="0" rIns="0" bIns="0" rtlCol="0" anchor="ctr"/>
          <a:lstStyle/>
          <a:p>
            <a:pPr indent="0" marL="0">
              <a:buNone/>
            </a:pPr>
            <a:r>
              <a:rPr lang="en-US" sz="1100" b="1" dirty="0">
                <a:solidFill>
                  <a:srgbClr val="1E2761"/>
                </a:solidFill>
                <a:latin typeface="Courier New" pitchFamily="34" charset="0"/>
                <a:ea typeface="Courier New" pitchFamily="34" charset="-122"/>
                <a:cs typeface="Courier New" pitchFamily="34" charset="-120"/>
              </a:rPr>
              <a:t>learning-support-analytics-reader</a:t>
            </a:r>
            <a:endParaRPr lang="en-US" sz="1100" dirty="0"/>
          </a:p>
        </p:txBody>
      </p:sp>
      <p:sp>
        <p:nvSpPr>
          <p:cNvPr id="18" name="Text 16"/>
          <p:cNvSpPr txBox="1"/>
          <p:nvPr/>
        </p:nvSpPr>
        <p:spPr>
          <a:xfrm>
            <a:off x="8339328" y="2487168"/>
            <a:ext cx="3200400" cy="219456"/>
          </a:xfrm>
          <a:prstGeom prst="rect">
            <a:avLst/>
          </a:prstGeom>
          <a:noFill/>
          <a:ln/>
        </p:spPr>
        <p:txBody>
          <a:bodyPr wrap="square" lIns="0" tIns="0" rIns="0" bIns="0" rtlCol="0" anchor="ctr"/>
          <a:lstStyle/>
          <a:p>
            <a:pPr indent="0" marL="0">
              <a:buNone/>
            </a:pPr>
            <a:r>
              <a:rPr lang="en-US" sz="1000" b="1" spc="150" kern="0" dirty="0">
                <a:solidFill>
                  <a:srgbClr val="1B7F5F"/>
                </a:solidFill>
                <a:latin typeface="Calibri" pitchFamily="34" charset="0"/>
                <a:ea typeface="Calibri" pitchFamily="34" charset="-122"/>
                <a:cs typeface="Calibri" pitchFamily="34" charset="-120"/>
              </a:rPr>
              <a:t>CAN</a:t>
            </a:r>
            <a:endParaRPr lang="en-US" sz="1000" dirty="0"/>
          </a:p>
        </p:txBody>
      </p:sp>
      <p:sp>
        <p:nvSpPr>
          <p:cNvPr id="19" name="Text 17"/>
          <p:cNvSpPr txBox="1"/>
          <p:nvPr/>
        </p:nvSpPr>
        <p:spPr>
          <a:xfrm>
            <a:off x="8339328" y="2724912"/>
            <a:ext cx="3200400" cy="658368"/>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Query the authorised view.</a:t>
            </a:r>
            <a:endParaRPr lang="en-US" sz="1150" dirty="0"/>
          </a:p>
        </p:txBody>
      </p:sp>
      <p:sp>
        <p:nvSpPr>
          <p:cNvPr id="20" name="Text 18"/>
          <p:cNvSpPr txBox="1"/>
          <p:nvPr/>
        </p:nvSpPr>
        <p:spPr>
          <a:xfrm>
            <a:off x="8339328" y="3456432"/>
            <a:ext cx="3200400" cy="219456"/>
          </a:xfrm>
          <a:prstGeom prst="rect">
            <a:avLst/>
          </a:prstGeom>
          <a:noFill/>
          <a:ln/>
        </p:spPr>
        <p:txBody>
          <a:bodyPr wrap="square" lIns="0" tIns="0" rIns="0" bIns="0" rtlCol="0" anchor="ctr"/>
          <a:lstStyle/>
          <a:p>
            <a:pPr indent="0" marL="0">
              <a:buNone/>
            </a:pPr>
            <a:r>
              <a:rPr lang="en-US" sz="1000" b="1" spc="150" kern="0" dirty="0">
                <a:solidFill>
                  <a:srgbClr val="C1272D"/>
                </a:solidFill>
                <a:latin typeface="Calibri" pitchFamily="34" charset="0"/>
                <a:ea typeface="Calibri" pitchFamily="34" charset="-122"/>
                <a:cs typeface="Calibri" pitchFamily="34" charset="-120"/>
              </a:rPr>
              <a:t>CANNOT</a:t>
            </a:r>
            <a:endParaRPr lang="en-US" sz="1000" dirty="0"/>
          </a:p>
        </p:txBody>
      </p:sp>
      <p:sp>
        <p:nvSpPr>
          <p:cNvPr id="21" name="Text 19"/>
          <p:cNvSpPr txBox="1"/>
          <p:nvPr/>
        </p:nvSpPr>
        <p:spPr>
          <a:xfrm>
            <a:off x="8339328" y="3694176"/>
            <a:ext cx="3200400" cy="777240"/>
          </a:xfrm>
          <a:prstGeom prst="rect">
            <a:avLst/>
          </a:prstGeom>
          <a:noFill/>
          <a:ln/>
        </p:spPr>
        <p:txBody>
          <a:bodyPr wrap="square" lIns="0" tIns="0" rIns="0" bIns="0" rtlCol="0" anchor="ctr"/>
          <a:lstStyle/>
          <a:p>
            <a:pPr indent="0" marL="0">
              <a:buNone/>
            </a:pPr>
            <a:r>
              <a:rPr lang="en-US" sz="1150" dirty="0">
                <a:solidFill>
                  <a:srgbClr val="22303F"/>
                </a:solidFill>
                <a:latin typeface="Calibri" pitchFamily="34" charset="0"/>
                <a:ea typeface="Calibri" pitchFamily="34" charset="-122"/>
                <a:cs typeface="Calibri" pitchFamily="34" charset="-120"/>
              </a:rPr>
              <a:t>Touch the underlying table.</a:t>
            </a:r>
            <a:endParaRPr lang="en-US" sz="1150" dirty="0"/>
          </a:p>
          <a:p>
            <a:pPr indent="0" marL="0">
              <a:buNone/>
            </a:pPr>
            <a:r>
              <a:rPr lang="en-US" sz="1150" dirty="0">
                <a:solidFill>
                  <a:srgbClr val="22303F"/>
                </a:solidFill>
                <a:latin typeface="Calibri" pitchFamily="34" charset="0"/>
                <a:ea typeface="Calibri" pitchFamily="34" charset="-122"/>
                <a:cs typeface="Calibri" pitchFamily="34" charset="-120"/>
              </a:rPr>
              <a:t>Reach the landing bucket.</a:t>
            </a:r>
            <a:endParaRPr lang="en-US" sz="1150" dirty="0"/>
          </a:p>
        </p:txBody>
      </p:sp>
      <p:sp>
        <p:nvSpPr>
          <p:cNvPr id="22" name="Text 20"/>
          <p:cNvSpPr txBox="1"/>
          <p:nvPr/>
        </p:nvSpPr>
        <p:spPr>
          <a:xfrm>
            <a:off x="566928" y="4846320"/>
            <a:ext cx="11064240" cy="822960"/>
          </a:xfrm>
          <a:prstGeom prst="rect">
            <a:avLst/>
          </a:prstGeom>
          <a:noFill/>
          <a:ln/>
        </p:spPr>
        <p:txBody>
          <a:bodyPr wrap="square" lIns="0" tIns="0" rIns="0" bIns="0" rtlCol="0" anchor="ctr"/>
          <a:lstStyle/>
          <a:p>
            <a:pPr indent="0" marL="0">
              <a:buNone/>
            </a:pPr>
            <a:r>
              <a:rPr lang="en-US" sz="1300" dirty="0">
                <a:solidFill>
                  <a:srgbClr val="44566C"/>
                </a:solidFill>
                <a:latin typeface="Calibri" pitchFamily="34" charset="0"/>
                <a:ea typeface="Calibri" pitchFamily="34" charset="-122"/>
                <a:cs typeface="Calibri" pitchFamily="34" charset="-120"/>
              </a:rPr>
              <a:t>The predefined object creator role also permits listing the bucket, and an identity that can list the bucket can enumerate the families of other children. So the ingestion identity holds a custom role granting exactly one permission: storage.objects.create.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ONE. DATA PROTECTION</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Row level security, built twice</a:t>
            </a:r>
            <a:endParaRPr lang="en-US" sz="3200" dirty="0"/>
          </a:p>
        </p:txBody>
      </p:sp>
      <p:sp>
        <p:nvSpPr>
          <p:cNvPr id="4" name="Shape 2"/>
          <p:cNvSpPr/>
          <p:nvPr/>
        </p:nvSpPr>
        <p:spPr>
          <a:xfrm>
            <a:off x="566928" y="1691640"/>
            <a:ext cx="5394960" cy="2331720"/>
          </a:xfrm>
          <a:prstGeom prst="roundRect">
            <a:avLst>
              <a:gd name="adj" fmla="val 2353"/>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Shape 3"/>
          <p:cNvSpPr/>
          <p:nvPr/>
        </p:nvSpPr>
        <p:spPr>
          <a:xfrm>
            <a:off x="822960" y="1920240"/>
            <a:ext cx="384048" cy="384048"/>
          </a:xfrm>
          <a:prstGeom prst="ellipse">
            <a:avLst/>
          </a:prstGeom>
          <a:solidFill>
            <a:srgbClr val="1E2761"/>
          </a:solidFill>
          <a:ln/>
        </p:spPr>
      </p:sp>
      <p:sp>
        <p:nvSpPr>
          <p:cNvPr id="6" name="Text 4"/>
          <p:cNvSpPr txBox="1"/>
          <p:nvPr/>
        </p:nvSpPr>
        <p:spPr>
          <a:xfrm>
            <a:off x="822960"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53312" y="1938528"/>
            <a:ext cx="4389120" cy="310896"/>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Native row access policy</a:t>
            </a:r>
            <a:endParaRPr lang="en-US" sz="1600" dirty="0"/>
          </a:p>
        </p:txBody>
      </p:sp>
      <p:sp>
        <p:nvSpPr>
          <p:cNvPr id="8" name="Text 6"/>
          <p:cNvSpPr txBox="1"/>
          <p:nvPr/>
        </p:nvSpPr>
        <p:spPr>
          <a:xfrm>
            <a:off x="822960" y="2340864"/>
            <a:ext cx="4892040" cy="1463040"/>
          </a:xfrm>
          <a:prstGeom prst="rect">
            <a:avLst/>
          </a:prstGeom>
          <a:noFill/>
          <a:ln/>
        </p:spPr>
        <p:txBody>
          <a:bodyPr wrap="square" lIns="0" tIns="0" rIns="0" bIns="0" rtlCol="0" anchor="ctr"/>
          <a:lstStyle/>
          <a:p>
            <a:pPr indent="0" marL="0">
              <a:buNone/>
            </a:pPr>
            <a:r>
              <a:rPr lang="en-US" sz="1250" dirty="0">
                <a:solidFill>
                  <a:srgbClr val="44566C"/>
                </a:solidFill>
                <a:latin typeface="Calibri" pitchFamily="34" charset="0"/>
                <a:ea typeface="Calibri" pitchFamily="34" charset="-122"/>
                <a:cs typeface="Calibri" pitchFamily="34" charset="-120"/>
              </a:rPr>
              <a:t>Attached to the table, so it applies to every query, including one typed into a console.</a:t>
            </a:r>
            <a:endParaRPr lang="en-US" sz="1250" dirty="0"/>
          </a:p>
          <a:p>
            <a:pPr indent="0" marL="0">
              <a:buNone/>
            </a:pPr>
            <a:endParaRPr lang="en-US" sz="1250" dirty="0"/>
          </a:p>
          <a:p>
            <a:pPr indent="0" marL="0">
              <a:buNone/>
            </a:pPr>
            <a:r>
              <a:rPr lang="en-US" sz="1250" dirty="0">
                <a:solidFill>
                  <a:srgbClr val="44566C"/>
                </a:solidFill>
                <a:latin typeface="Calibri" pitchFamily="34" charset="0"/>
                <a:ea typeface="Calibri" pitchFamily="34" charset="-122"/>
                <a:cs typeface="Calibri" pitchFamily="34" charset="-120"/>
              </a:rPr>
              <a:t>Entitlement is read from a table at query time, not from a permission somebody granted by hand. Revoking access is setting one boolean to false, with a review reference attached.</a:t>
            </a:r>
            <a:endParaRPr lang="en-US" sz="1250" dirty="0"/>
          </a:p>
        </p:txBody>
      </p:sp>
      <p:sp>
        <p:nvSpPr>
          <p:cNvPr id="9" name="Shape 7"/>
          <p:cNvSpPr/>
          <p:nvPr/>
        </p:nvSpPr>
        <p:spPr>
          <a:xfrm>
            <a:off x="6236208" y="1691640"/>
            <a:ext cx="5394960" cy="2331720"/>
          </a:xfrm>
          <a:prstGeom prst="roundRect">
            <a:avLst>
              <a:gd name="adj" fmla="val 2353"/>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0" name="Shape 8"/>
          <p:cNvSpPr/>
          <p:nvPr/>
        </p:nvSpPr>
        <p:spPr>
          <a:xfrm>
            <a:off x="6492240" y="1920240"/>
            <a:ext cx="384048" cy="384048"/>
          </a:xfrm>
          <a:prstGeom prst="ellipse">
            <a:avLst/>
          </a:prstGeom>
          <a:solidFill>
            <a:srgbClr val="1E2761"/>
          </a:solidFill>
          <a:ln/>
        </p:spPr>
      </p:sp>
      <p:sp>
        <p:nvSpPr>
          <p:cNvPr id="11" name="Text 9"/>
          <p:cNvSpPr txBox="1"/>
          <p:nvPr/>
        </p:nvSpPr>
        <p:spPr>
          <a:xfrm>
            <a:off x="6492240" y="1920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7022592" y="1938528"/>
            <a:ext cx="4389120" cy="310896"/>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Authorised view</a:t>
            </a:r>
            <a:endParaRPr lang="en-US" sz="1600" dirty="0"/>
          </a:p>
        </p:txBody>
      </p:sp>
      <p:sp>
        <p:nvSpPr>
          <p:cNvPr id="13" name="Text 11"/>
          <p:cNvSpPr txBox="1"/>
          <p:nvPr/>
        </p:nvSpPr>
        <p:spPr>
          <a:xfrm>
            <a:off x="6492240" y="2340864"/>
            <a:ext cx="4892040" cy="1463040"/>
          </a:xfrm>
          <a:prstGeom prst="rect">
            <a:avLst/>
          </a:prstGeom>
          <a:noFill/>
          <a:ln/>
        </p:spPr>
        <p:txBody>
          <a:bodyPr wrap="square" lIns="0" tIns="0" rIns="0" bIns="0" rtlCol="0" anchor="ctr"/>
          <a:lstStyle/>
          <a:p>
            <a:pPr indent="0" marL="0">
              <a:buNone/>
            </a:pPr>
            <a:r>
              <a:rPr lang="en-US" sz="1250" dirty="0">
                <a:solidFill>
                  <a:srgbClr val="44566C"/>
                </a:solidFill>
                <a:latin typeface="Calibri" pitchFamily="34" charset="0"/>
                <a:ea typeface="Calibri" pitchFamily="34" charset="-122"/>
                <a:cs typeface="Calibri" pitchFamily="34" charset="-120"/>
              </a:rPr>
              <a:t>Authorising a view grants the view, not its readers, the right to read the table.</a:t>
            </a:r>
            <a:endParaRPr lang="en-US" sz="1250" dirty="0"/>
          </a:p>
          <a:p>
            <a:pPr indent="0" marL="0">
              <a:buNone/>
            </a:pPr>
            <a:endParaRPr lang="en-US" sz="1250" dirty="0"/>
          </a:p>
          <a:p>
            <a:pPr indent="0" marL="0">
              <a:buNone/>
            </a:pPr>
            <a:r>
              <a:rPr lang="en-US" sz="1250" dirty="0">
                <a:solidFill>
                  <a:srgbClr val="44566C"/>
                </a:solidFill>
                <a:latin typeface="Calibri" pitchFamily="34" charset="0"/>
                <a:ea typeface="Calibri" pitchFamily="34" charset="-122"/>
                <a:cs typeface="Calibri" pitchFamily="34" charset="-120"/>
              </a:rPr>
              <a:t>That is what lets the analytics identity hold no permission on the table at all. Direct identifiers of the child and of the parent never enter the view.</a:t>
            </a:r>
            <a:endParaRPr lang="en-US" sz="1250" dirty="0"/>
          </a:p>
        </p:txBody>
      </p:sp>
      <p:sp>
        <p:nvSpPr>
          <p:cNvPr id="14" name="Shape 12"/>
          <p:cNvSpPr/>
          <p:nvPr/>
        </p:nvSpPr>
        <p:spPr>
          <a:xfrm>
            <a:off x="566928" y="4279392"/>
            <a:ext cx="11064240" cy="1481328"/>
          </a:xfrm>
          <a:prstGeom prst="roundRect">
            <a:avLst>
              <a:gd name="adj" fmla="val 3704"/>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15" name="Text 13"/>
          <p:cNvSpPr txBox="1"/>
          <p:nvPr/>
        </p:nvSpPr>
        <p:spPr>
          <a:xfrm>
            <a:off x="932688" y="4498848"/>
            <a:ext cx="10332720" cy="32004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Why two layers rather than one</a:t>
            </a:r>
            <a:endParaRPr lang="en-US" sz="1800" dirty="0"/>
          </a:p>
        </p:txBody>
      </p:sp>
      <p:sp>
        <p:nvSpPr>
          <p:cNvPr id="16" name="Text 14"/>
          <p:cNvSpPr txBox="1"/>
          <p:nvPr/>
        </p:nvSpPr>
        <p:spPr>
          <a:xfrm>
            <a:off x="932688" y="4901184"/>
            <a:ext cx="10332720" cy="731520"/>
          </a:xfrm>
          <a:prstGeom prst="rect">
            <a:avLst/>
          </a:prstGeom>
          <a:noFill/>
          <a:ln/>
        </p:spPr>
        <p:txBody>
          <a:bodyPr wrap="square" lIns="0" tIns="0" rIns="0" bIns="0" rtlCol="0" anchor="ctr"/>
          <a:lstStyle/>
          <a:p>
            <a:pPr indent="0" marL="0">
              <a:buNone/>
            </a:pPr>
            <a:r>
              <a:rPr lang="en-US" sz="1300" dirty="0">
                <a:solidFill>
                  <a:srgbClr val="22303F"/>
                </a:solidFill>
                <a:latin typeface="Calibri" pitchFamily="34" charset="0"/>
                <a:ea typeface="Calibri" pitchFamily="34" charset="-122"/>
                <a:cs typeface="Calibri" pitchFamily="34" charset="-120"/>
              </a:rPr>
              <a:t>A control that exists in one layer only is a control that one mistake removes. An engineer who deletes the row access policy still has the authorised view. An engineer who mistakenly grants the analytics identity direct table access still has the row access policy.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TWO. FAIL CLOSED PIPELINE</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gate</a:t>
            </a:r>
            <a:endParaRPr lang="en-US" sz="3200" dirty="0"/>
          </a:p>
        </p:txBody>
      </p:sp>
      <p:sp>
        <p:nvSpPr>
          <p:cNvPr id="4" name="Shape 2"/>
          <p:cNvSpPr/>
          <p:nvPr/>
        </p:nvSpPr>
        <p:spPr>
          <a:xfrm>
            <a:off x="566928" y="1691640"/>
            <a:ext cx="6766560" cy="914400"/>
          </a:xfrm>
          <a:prstGeom prst="roundRect">
            <a:avLst>
              <a:gd name="adj" fmla="val 6000"/>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Shape 3"/>
          <p:cNvSpPr/>
          <p:nvPr/>
        </p:nvSpPr>
        <p:spPr>
          <a:xfrm>
            <a:off x="786384" y="1965960"/>
            <a:ext cx="384048" cy="384048"/>
          </a:xfrm>
          <a:prstGeom prst="ellipse">
            <a:avLst/>
          </a:prstGeom>
          <a:solidFill>
            <a:srgbClr val="1E2761"/>
          </a:solidFill>
          <a:ln/>
        </p:spPr>
      </p:sp>
      <p:sp>
        <p:nvSpPr>
          <p:cNvPr id="6" name="Text 4"/>
          <p:cNvSpPr txBox="1"/>
          <p:nvPr/>
        </p:nvSpPr>
        <p:spPr>
          <a:xfrm>
            <a:off x="786384"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5024" y="1819656"/>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Secret detection and quarantine</a:t>
            </a:r>
            <a:endParaRPr lang="en-US" sz="1400" dirty="0"/>
          </a:p>
        </p:txBody>
      </p:sp>
      <p:sp>
        <p:nvSpPr>
          <p:cNvPr id="8" name="Text 6"/>
          <p:cNvSpPr txBox="1"/>
          <p:nvPr/>
        </p:nvSpPr>
        <p:spPr>
          <a:xfrm>
            <a:off x="1335024" y="2112264"/>
            <a:ext cx="5852160" cy="438912"/>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Full commit history, not the tip. Runs first, before anything can publish a log line or a cache entry derived from the code.</a:t>
            </a:r>
            <a:endParaRPr lang="en-US" sz="1050" dirty="0"/>
          </a:p>
        </p:txBody>
      </p:sp>
      <p:sp>
        <p:nvSpPr>
          <p:cNvPr id="9" name="Shape 7"/>
          <p:cNvSpPr/>
          <p:nvPr/>
        </p:nvSpPr>
        <p:spPr>
          <a:xfrm>
            <a:off x="566928" y="2843784"/>
            <a:ext cx="6766560" cy="914400"/>
          </a:xfrm>
          <a:prstGeom prst="roundRect">
            <a:avLst>
              <a:gd name="adj" fmla="val 6000"/>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0" name="Shape 8"/>
          <p:cNvSpPr/>
          <p:nvPr/>
        </p:nvSpPr>
        <p:spPr>
          <a:xfrm>
            <a:off x="786384" y="3118104"/>
            <a:ext cx="384048" cy="384048"/>
          </a:xfrm>
          <a:prstGeom prst="ellipse">
            <a:avLst/>
          </a:prstGeom>
          <a:solidFill>
            <a:srgbClr val="1E2761"/>
          </a:solidFill>
          <a:ln/>
        </p:spPr>
      </p:sp>
      <p:sp>
        <p:nvSpPr>
          <p:cNvPr id="11" name="Text 9"/>
          <p:cNvSpPr txBox="1"/>
          <p:nvPr/>
        </p:nvSpPr>
        <p:spPr>
          <a:xfrm>
            <a:off x="786384" y="3118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335024" y="2971800"/>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Infrastructure as code</a:t>
            </a:r>
            <a:endParaRPr lang="en-US" sz="1400" dirty="0"/>
          </a:p>
        </p:txBody>
      </p:sp>
      <p:sp>
        <p:nvSpPr>
          <p:cNvPr id="13" name="Text 11"/>
          <p:cNvSpPr txBox="1"/>
          <p:nvPr/>
        </p:nvSpPr>
        <p:spPr>
          <a:xfrm>
            <a:off x="1335024" y="3264408"/>
            <a:ext cx="5852160" cy="438912"/>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Format check, validate against the provider schema, lint, forbidden role assertion, public access assertion.</a:t>
            </a:r>
            <a:endParaRPr lang="en-US" sz="1050" dirty="0"/>
          </a:p>
        </p:txBody>
      </p:sp>
      <p:sp>
        <p:nvSpPr>
          <p:cNvPr id="14" name="Shape 12"/>
          <p:cNvSpPr/>
          <p:nvPr/>
        </p:nvSpPr>
        <p:spPr>
          <a:xfrm>
            <a:off x="566928" y="3995928"/>
            <a:ext cx="6766560" cy="914400"/>
          </a:xfrm>
          <a:prstGeom prst="roundRect">
            <a:avLst>
              <a:gd name="adj" fmla="val 6000"/>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5" name="Shape 13"/>
          <p:cNvSpPr/>
          <p:nvPr/>
        </p:nvSpPr>
        <p:spPr>
          <a:xfrm>
            <a:off x="786384" y="4270248"/>
            <a:ext cx="384048" cy="384048"/>
          </a:xfrm>
          <a:prstGeom prst="ellipse">
            <a:avLst/>
          </a:prstGeom>
          <a:solidFill>
            <a:srgbClr val="1E2761"/>
          </a:solidFill>
          <a:ln/>
        </p:spPr>
      </p:sp>
      <p:sp>
        <p:nvSpPr>
          <p:cNvPr id="16" name="Text 14"/>
          <p:cNvSpPr txBox="1"/>
          <p:nvPr/>
        </p:nvSpPr>
        <p:spPr>
          <a:xfrm>
            <a:off x="786384" y="4270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123944"/>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Application code</a:t>
            </a:r>
            <a:endParaRPr lang="en-US" sz="1400" dirty="0"/>
          </a:p>
        </p:txBody>
      </p:sp>
      <p:sp>
        <p:nvSpPr>
          <p:cNvPr id="18" name="Text 16"/>
          <p:cNvSpPr txBox="1"/>
          <p:nvPr/>
        </p:nvSpPr>
        <p:spPr>
          <a:xfrm>
            <a:off x="1335024" y="4416552"/>
            <a:ext cx="5852160" cy="438912"/>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Format check, import order, lint, security scan, fifty one tests, and an assertion that the suite is not empty.</a:t>
            </a:r>
            <a:endParaRPr lang="en-US" sz="1050" dirty="0"/>
          </a:p>
        </p:txBody>
      </p:sp>
      <p:sp>
        <p:nvSpPr>
          <p:cNvPr id="19" name="Shape 17"/>
          <p:cNvSpPr/>
          <p:nvPr/>
        </p:nvSpPr>
        <p:spPr>
          <a:xfrm>
            <a:off x="566928" y="5148072"/>
            <a:ext cx="6766560" cy="914400"/>
          </a:xfrm>
          <a:prstGeom prst="roundRect">
            <a:avLst>
              <a:gd name="adj" fmla="val 6000"/>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20" name="Shape 18"/>
          <p:cNvSpPr/>
          <p:nvPr/>
        </p:nvSpPr>
        <p:spPr>
          <a:xfrm>
            <a:off x="786384" y="5422392"/>
            <a:ext cx="384048" cy="384048"/>
          </a:xfrm>
          <a:prstGeom prst="ellipse">
            <a:avLst/>
          </a:prstGeom>
          <a:solidFill>
            <a:srgbClr val="1E2761"/>
          </a:solidFill>
          <a:ln/>
        </p:spPr>
      </p:sp>
      <p:sp>
        <p:nvSpPr>
          <p:cNvPr id="21" name="Text 19"/>
          <p:cNvSpPr txBox="1"/>
          <p:nvPr/>
        </p:nvSpPr>
        <p:spPr>
          <a:xfrm>
            <a:off x="786384" y="54223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276088"/>
            <a:ext cx="576072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Schema consistency</a:t>
            </a:r>
            <a:endParaRPr lang="en-US" sz="1400" dirty="0"/>
          </a:p>
        </p:txBody>
      </p:sp>
      <p:sp>
        <p:nvSpPr>
          <p:cNvPr id="23" name="Text 21"/>
          <p:cNvSpPr txBox="1"/>
          <p:nvPr/>
        </p:nvSpPr>
        <p:spPr>
          <a:xfrm>
            <a:off x="1335024" y="5568696"/>
            <a:ext cx="5852160" cy="438912"/>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The application field contract and the warehouse table compared in four directions.</a:t>
            </a:r>
            <a:endParaRPr lang="en-US" sz="1050" dirty="0"/>
          </a:p>
        </p:txBody>
      </p:sp>
      <p:sp>
        <p:nvSpPr>
          <p:cNvPr id="24" name="Shape 22"/>
          <p:cNvSpPr/>
          <p:nvPr/>
        </p:nvSpPr>
        <p:spPr>
          <a:xfrm>
            <a:off x="7644384" y="1691640"/>
            <a:ext cx="3986784" cy="2194560"/>
          </a:xfrm>
          <a:prstGeom prst="roundRect">
            <a:avLst>
              <a:gd name="adj" fmla="val 2500"/>
            </a:avLst>
          </a:prstGeom>
          <a:solidFill>
            <a:srgbClr val="1E2761"/>
          </a:solidFill>
          <a:ln w="12700">
            <a:solidFill>
              <a:srgbClr val="1E2761"/>
            </a:solidFill>
            <a:prstDash val="solid"/>
          </a:ln>
          <a:effectLst>
            <a:outerShdw sx="100000" sy="100000" kx="0" ky="0" algn="bl" rotWithShape="0" blurRad="76200" dist="12700" dir="5400000">
              <a:srgbClr val="9AA7B4">
                <a:alpha val="22000"/>
              </a:srgbClr>
            </a:outerShdw>
          </a:effectLst>
        </p:spPr>
      </p:sp>
      <p:sp>
        <p:nvSpPr>
          <p:cNvPr id="25" name="Text 23"/>
          <p:cNvSpPr txBox="1"/>
          <p:nvPr/>
        </p:nvSpPr>
        <p:spPr>
          <a:xfrm>
            <a:off x="7863840" y="1901952"/>
            <a:ext cx="35661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Required status check</a:t>
            </a:r>
            <a:endParaRPr lang="en-US" sz="1500" dirty="0"/>
          </a:p>
        </p:txBody>
      </p:sp>
      <p:sp>
        <p:nvSpPr>
          <p:cNvPr id="26" name="Text 24"/>
          <p:cNvSpPr txBox="1"/>
          <p:nvPr/>
        </p:nvSpPr>
        <p:spPr>
          <a:xfrm>
            <a:off x="7863840" y="2286000"/>
            <a:ext cx="3566160" cy="1463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Branch protection requires this one job. It fails unless every gate reported the literal result success.</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Cancelled, skipped and neutral are all failures to it.</a:t>
            </a:r>
            <a:endParaRPr lang="en-US" sz="1200" dirty="0"/>
          </a:p>
        </p:txBody>
      </p:sp>
      <p:sp>
        <p:nvSpPr>
          <p:cNvPr id="27" name="Shape 25"/>
          <p:cNvSpPr/>
          <p:nvPr/>
        </p:nvSpPr>
        <p:spPr>
          <a:xfrm>
            <a:off x="7644384" y="4069080"/>
            <a:ext cx="3986784" cy="1783080"/>
          </a:xfrm>
          <a:prstGeom prst="roundRect">
            <a:avLst>
              <a:gd name="adj" fmla="val 3077"/>
            </a:avLst>
          </a:prstGeom>
          <a:solidFill>
            <a:srgbClr val="F7E9E9"/>
          </a:solidFill>
          <a:ln w="12700">
            <a:solidFill>
              <a:srgbClr val="E4C4C4"/>
            </a:solidFill>
            <a:prstDash val="solid"/>
          </a:ln>
          <a:effectLst>
            <a:outerShdw sx="100000" sy="100000" kx="0" ky="0" algn="bl" rotWithShape="0" blurRad="76200" dist="12700" dir="5400000">
              <a:srgbClr val="9AA7B4">
                <a:alpha val="22000"/>
              </a:srgbClr>
            </a:outerShdw>
          </a:effectLst>
        </p:spPr>
      </p:sp>
      <p:sp>
        <p:nvSpPr>
          <p:cNvPr id="28" name="Text 26"/>
          <p:cNvSpPr txBox="1"/>
          <p:nvPr/>
        </p:nvSpPr>
        <p:spPr>
          <a:xfrm>
            <a:off x="7863840" y="4279392"/>
            <a:ext cx="3566160" cy="274320"/>
          </a:xfrm>
          <a:prstGeom prst="rect">
            <a:avLst/>
          </a:prstGeom>
          <a:noFill/>
          <a:ln/>
        </p:spPr>
        <p:txBody>
          <a:bodyPr wrap="square" lIns="0" tIns="0" rIns="0" bIns="0" rtlCol="0" anchor="ctr"/>
          <a:lstStyle/>
          <a:p>
            <a:pPr indent="0" marL="0">
              <a:buNone/>
            </a:pPr>
            <a:r>
              <a:rPr lang="en-US" sz="1400" b="1" dirty="0">
                <a:solidFill>
                  <a:srgbClr val="C1272D"/>
                </a:solidFill>
                <a:latin typeface="Calibri" pitchFamily="34" charset="0"/>
                <a:ea typeface="Calibri" pitchFamily="34" charset="-122"/>
                <a:cs typeface="Calibri" pitchFamily="34" charset="-120"/>
              </a:rPr>
              <a:t>No path around it</a:t>
            </a:r>
            <a:endParaRPr lang="en-US" sz="1400" dirty="0"/>
          </a:p>
        </p:txBody>
      </p:sp>
      <p:sp>
        <p:nvSpPr>
          <p:cNvPr id="29" name="Text 27"/>
          <p:cNvSpPr txBox="1"/>
          <p:nvPr/>
        </p:nvSpPr>
        <p:spPr>
          <a:xfrm>
            <a:off x="7863840" y="4617720"/>
            <a:ext cx="3566160" cy="1097280"/>
          </a:xfrm>
          <a:prstGeom prst="rect">
            <a:avLst/>
          </a:prstGeom>
          <a:noFill/>
          <a:ln/>
        </p:spPr>
        <p:txBody>
          <a:bodyPr wrap="square" lIns="0" tIns="0" rIns="0" bIns="0" rtlCol="0" anchor="ctr"/>
          <a:lstStyle/>
          <a:p>
            <a:pPr indent="0" marL="0">
              <a:buNone/>
            </a:pPr>
            <a:r>
              <a:rPr lang="en-US" sz="1150" dirty="0">
                <a:solidFill>
                  <a:srgbClr val="5A2A2A"/>
                </a:solidFill>
                <a:latin typeface="Calibri" pitchFamily="34" charset="0"/>
                <a:ea typeface="Calibri" pitchFamily="34" charset="-122"/>
                <a:cs typeface="Calibri" pitchFamily="34" charset="-120"/>
              </a:rPr>
              <a:t>Deployment sits behind the required check, the main branch, and a named human reviewer on the environment. A green build is evidence, not a decision.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TWO. HOW, NOT WHAT</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Four structural rules make it fail closed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64240" cy="914400"/>
        </p:xfrm>
        <a:graphic>
          <a:graphicData uri="http://schemas.openxmlformats.org/drawingml/2006/table">
            <a:tbl>
              <a:tblPr/>
              <a:tblGrid>
                <a:gridCol w="4114800"/>
                <a:gridCol w="69494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is needed</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The string continue-on-error appears nowhere in the workflow</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It is the single most common way a gate becomes a warning that everybody scrolls past</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Every run step executes under bash with the options e, u and pipefail</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Without pipefail, a failing command inside a pipe is masked by the exit status of the last command in the pipe, so a linter appears to pass while having failed</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Every dependent job declares an explicit success condition</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GitHub Actions skips a dependent job when its dependency fails, and a skipped job reports as neutral rather than as a failure</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One required status check, carrying a completeness assertion</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200" dirty="0">
                          <a:solidFill>
                            <a:srgbClr val="22303F"/>
                          </a:solidFill>
                          <a:latin typeface="Calibri" pitchFamily="34" charset="0"/>
                          <a:ea typeface="Calibri" pitchFamily="34" charset="-122"/>
                          <a:cs typeface="Calibri" pitchFamily="34" charset="-120"/>
                        </a:rPr>
                        <a:t>It counts the gates that reported and requires the count to be four, so an engineer who adds a fifth gate without registering it is caught immediately</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800600"/>
            <a:ext cx="11064240" cy="1051560"/>
          </a:xfrm>
          <a:prstGeom prst="roundRect">
            <a:avLst>
              <a:gd name="adj" fmla="val 5217"/>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6" name="Text 3"/>
          <p:cNvSpPr txBox="1"/>
          <p:nvPr/>
        </p:nvSpPr>
        <p:spPr>
          <a:xfrm>
            <a:off x="932688" y="5074920"/>
            <a:ext cx="10332720" cy="548640"/>
          </a:xfrm>
          <a:prstGeom prst="rect">
            <a:avLst/>
          </a:prstGeom>
          <a:noFill/>
          <a:ln/>
        </p:spPr>
        <p:txBody>
          <a:bodyPr wrap="square" lIns="0" tIns="0" rIns="0" bIns="0" rtlCol="0" anchor="ctr"/>
          <a:lstStyle/>
          <a:p>
            <a:pPr indent="0" marL="0">
              <a:buNone/>
            </a:pPr>
            <a:r>
              <a:rPr lang="en-US" sz="1350" dirty="0">
                <a:solidFill>
                  <a:srgbClr val="22303F"/>
                </a:solidFill>
                <a:latin typeface="Calibri" pitchFamily="34" charset="0"/>
                <a:ea typeface="Calibri" pitchFamily="34" charset="-122"/>
                <a:cs typeface="Calibri" pitchFamily="34" charset="-120"/>
              </a:rPr>
              <a:t>A reviewer can verify all four by reading the file, rather than by trusting me. That is deliberate: a control you have to take on trust is not a control.</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TWO. THE DEMONSTRATION</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Proof, not assertion</a:t>
            </a:r>
            <a:endParaRPr lang="en-US" sz="3200" dirty="0"/>
          </a:p>
        </p:txBody>
      </p:sp>
      <p:sp>
        <p:nvSpPr>
          <p:cNvPr id="4" name="Text 2"/>
          <p:cNvSpPr txBox="1"/>
          <p:nvPr/>
        </p:nvSpPr>
        <p:spPr>
          <a:xfrm>
            <a:off x="566928" y="1517904"/>
            <a:ext cx="11064240" cy="585216"/>
          </a:xfrm>
          <a:prstGeom prst="rect">
            <a:avLst/>
          </a:prstGeom>
          <a:noFill/>
          <a:ln/>
        </p:spPr>
        <p:txBody>
          <a:bodyPr wrap="square" lIns="0" tIns="0" rIns="0" bIns="0" rtlCol="0" anchor="ctr"/>
          <a:lstStyle/>
          <a:p>
            <a:pPr indent="0" marL="0">
              <a:buNone/>
            </a:pPr>
            <a:r>
              <a:rPr lang="en-US" sz="1300" dirty="0">
                <a:solidFill>
                  <a:srgbClr val="44566C"/>
                </a:solidFill>
                <a:latin typeface="Calibri" pitchFamily="34" charset="0"/>
                <a:ea typeface="Calibri" pitchFamily="34" charset="-122"/>
                <a:cs typeface="Calibri" pitchFamily="34" charset="-120"/>
              </a:rPr>
              <a:t>One script runs the same checks the pipeline runs, twice: against the committed tree, then against a throwaway copy carrying a deliberately insecure commit. The output below is a real captured run, recorded in evidence/fail_closed_demonstration_transcript.txt.</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2212848"/>
          <a:ext cx="11064240" cy="914400"/>
        </p:xfrm>
        <a:graphic>
          <a:graphicData uri="http://schemas.openxmlformats.org/drawingml/2006/table">
            <a:tbl>
              <a:tblPr/>
              <a:tblGrid>
                <a:gridCol w="3749040"/>
                <a:gridCol w="2011680"/>
                <a:gridCol w="53035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Clean tree</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Insecure commit</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050" dirty="0">
                          <a:solidFill>
                            <a:srgbClr val="22303F"/>
                          </a:solidFill>
                          <a:latin typeface="Calibri" pitchFamily="34" charset="0"/>
                          <a:ea typeface="Calibri" pitchFamily="34" charset="-122"/>
                          <a:cs typeface="Calibri" pitchFamily="34" charset="-120"/>
                        </a:rPr>
                        <a:t>Secret detection and quarantine</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5F"/>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C1272D"/>
                          </a:solidFill>
                          <a:latin typeface="Calibri" pitchFamily="34" charset="0"/>
                          <a:ea typeface="Calibri" pitchFamily="34" charset="-122"/>
                          <a:cs typeface="Calibri" pitchFamily="34" charset="-120"/>
                        </a:rPr>
                        <a:t>FAIL CLOSED — credential detected, build halted</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22303F"/>
                          </a:solidFill>
                          <a:latin typeface="Calibri" pitchFamily="34" charset="0"/>
                          <a:ea typeface="Calibri" pitchFamily="34" charset="-122"/>
                          <a:cs typeface="Calibri" pitchFamily="34" charset="-120"/>
                        </a:rPr>
                        <a:t>Python formatting</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5F"/>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C1272D"/>
                          </a:solidFill>
                          <a:latin typeface="Calibri" pitchFamily="34" charset="0"/>
                          <a:ea typeface="Calibri" pitchFamily="34" charset="-122"/>
                          <a:cs typeface="Calibri" pitchFamily="34" charset="-120"/>
                        </a:rPr>
                        <a:t>FAIL CLOSED — source not in canonical format</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22303F"/>
                          </a:solidFill>
                          <a:latin typeface="Calibri" pitchFamily="34" charset="0"/>
                          <a:ea typeface="Calibri" pitchFamily="34" charset="-122"/>
                          <a:cs typeface="Calibri" pitchFamily="34" charset="-120"/>
                        </a:rPr>
                        <a:t>Python linting</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5F"/>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C1272D"/>
                          </a:solidFill>
                          <a:latin typeface="Calibri" pitchFamily="34" charset="0"/>
                          <a:ea typeface="Calibri" pitchFamily="34" charset="-122"/>
                          <a:cs typeface="Calibri" pitchFamily="34" charset="-120"/>
                        </a:rPr>
                        <a:t>FAIL CLOSED — finding reported</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22303F"/>
                          </a:solidFill>
                          <a:latin typeface="Calibri" pitchFamily="34" charset="0"/>
                          <a:ea typeface="Calibri" pitchFamily="34" charset="-122"/>
                          <a:cs typeface="Calibri" pitchFamily="34" charset="-120"/>
                        </a:rPr>
                        <a:t>Schema consistency</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5F"/>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C1272D"/>
                          </a:solidFill>
                          <a:latin typeface="Calibri" pitchFamily="34" charset="0"/>
                          <a:ea typeface="Calibri" pitchFamily="34" charset="-122"/>
                          <a:cs typeface="Calibri" pitchFamily="34" charset="-120"/>
                        </a:rPr>
                        <a:t>FAIL CLOSED — application and warehouse disagree</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22303F"/>
                          </a:solidFill>
                          <a:latin typeface="Calibri" pitchFamily="34" charset="0"/>
                          <a:ea typeface="Calibri" pitchFamily="34" charset="-122"/>
                          <a:cs typeface="Calibri" pitchFamily="34" charset="-120"/>
                        </a:rPr>
                        <a:t>Validation test suite, fifty one tests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b="1" dirty="0">
                          <a:solidFill>
                            <a:srgbClr val="1B7F5F"/>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050" dirty="0">
                          <a:solidFill>
                            <a:srgbClr val="44566C"/>
                          </a:solidFill>
                          <a:latin typeface="Calibri" pitchFamily="34" charset="0"/>
                          <a:ea typeface="Calibri" pitchFamily="34" charset="-122"/>
                          <a:cs typeface="Calibri" pitchFamily="34" charset="-120"/>
                        </a:rPr>
                        <a:t>Not reached</a:t>
                      </a:r>
                      <a:endParaRPr lang="en-US" sz="10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956048"/>
            <a:ext cx="11064240" cy="1325880"/>
          </a:xfrm>
          <a:prstGeom prst="roundRect">
            <a:avLst>
              <a:gd name="adj" fmla="val 4138"/>
            </a:avLst>
          </a:prstGeom>
          <a:solidFill>
            <a:srgbClr val="18263C"/>
          </a:solidFill>
          <a:ln w="12700">
            <a:solidFill>
              <a:srgbClr val="18263C"/>
            </a:solidFill>
            <a:prstDash val="solid"/>
          </a:ln>
          <a:effectLst>
            <a:outerShdw sx="100000" sy="100000" kx="0" ky="0" algn="bl" rotWithShape="0" blurRad="76200" dist="12700" dir="5400000">
              <a:srgbClr val="9AA7B4">
                <a:alpha val="22000"/>
              </a:srgbClr>
            </a:outerShdw>
          </a:effectLst>
        </p:spPr>
      </p:sp>
      <p:sp>
        <p:nvSpPr>
          <p:cNvPr id="7" name="Text 4"/>
          <p:cNvSpPr txBox="1"/>
          <p:nvPr/>
        </p:nvSpPr>
        <p:spPr>
          <a:xfrm>
            <a:off x="886968" y="5175504"/>
            <a:ext cx="10424160" cy="548640"/>
          </a:xfrm>
          <a:prstGeom prst="rect">
            <a:avLst/>
          </a:prstGeom>
          <a:noFill/>
          <a:ln/>
        </p:spPr>
        <p:txBody>
          <a:bodyPr wrap="square" lIns="0" tIns="0" rIns="0" bIns="0" rtlCol="0" anchor="ctr"/>
          <a:lstStyle/>
          <a:p>
            <a:pPr indent="0" marL="0">
              <a:buNone/>
            </a:pPr>
            <a:r>
              <a:rPr lang="en-US" sz="1100" dirty="0">
                <a:solidFill>
                  <a:srgbClr val="A8D5C2"/>
                </a:solidFill>
                <a:latin typeface="Courier New" pitchFamily="34" charset="0"/>
                <a:ea typeface="Courier New" pitchFamily="34" charset="-122"/>
                <a:cs typeface="Courier New" pitchFamily="34" charset="-120"/>
              </a:rPr>
              <a:t>The warehouse declares a column named parent_marketing_preference which is neither declared in the</a:t>
            </a:r>
            <a:endParaRPr lang="en-US" sz="1100" dirty="0"/>
          </a:p>
          <a:p>
            <a:pPr indent="0" marL="0">
              <a:buNone/>
            </a:pPr>
            <a:r>
              <a:rPr lang="en-US" sz="1100" dirty="0">
                <a:solidFill>
                  <a:srgbClr val="A8D5C2"/>
                </a:solidFill>
                <a:latin typeface="Courier New" pitchFamily="34" charset="0"/>
                <a:ea typeface="Courier New" pitchFamily="34" charset="-122"/>
                <a:cs typeface="Courier New" pitchFamily="34" charset="-120"/>
              </a:rPr>
              <a:t>field contract nor listed as a warehouse only column.</a:t>
            </a:r>
            <a:endParaRPr lang="en-US" sz="1100" dirty="0"/>
          </a:p>
        </p:txBody>
      </p:sp>
      <p:sp>
        <p:nvSpPr>
          <p:cNvPr id="8" name="Text 5"/>
          <p:cNvSpPr txBox="1"/>
          <p:nvPr/>
        </p:nvSpPr>
        <p:spPr>
          <a:xfrm>
            <a:off x="886968" y="5779008"/>
            <a:ext cx="10424160" cy="365760"/>
          </a:xfrm>
          <a:prstGeom prst="rect">
            <a:avLst/>
          </a:prstGeom>
          <a:noFill/>
          <a:ln/>
        </p:spPr>
        <p:txBody>
          <a:bodyPr wrap="square" lIns="0" tIns="0" rIns="0" bIns="0" rtlCol="0" anchor="ctr"/>
          <a:lstStyle/>
          <a:p>
            <a:pPr indent="0" marL="0">
              <a:buNone/>
            </a:pPr>
            <a:r>
              <a:rPr lang="en-US" sz="1200" i="1" dirty="0">
                <a:solidFill>
                  <a:srgbClr val="9FB3C8"/>
                </a:solidFill>
                <a:latin typeface="Calibri" pitchFamily="34" charset="0"/>
                <a:ea typeface="Calibri" pitchFamily="34" charset="-122"/>
                <a:cs typeface="Calibri" pitchFamily="34" charset="-120"/>
              </a:rPr>
              <a:t>The gate did not say that something looked wrong. It named the column, said which side declared it and which side did not, and said what to do.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THREE. REMOVING THE SECOND COPY</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One contract, four consumers</a:t>
            </a:r>
            <a:endParaRPr lang="en-US" sz="3200" dirty="0"/>
          </a:p>
        </p:txBody>
      </p:sp>
      <p:sp>
        <p:nvSpPr>
          <p:cNvPr id="4" name="Shape 2"/>
          <p:cNvSpPr/>
          <p:nvPr/>
        </p:nvSpPr>
        <p:spPr>
          <a:xfrm>
            <a:off x="4160520" y="1691640"/>
            <a:ext cx="3840480" cy="1051560"/>
          </a:xfrm>
          <a:prstGeom prst="roundRect">
            <a:avLst>
              <a:gd name="adj" fmla="val 5217"/>
            </a:avLst>
          </a:prstGeom>
          <a:solidFill>
            <a:srgbClr val="1E2761"/>
          </a:solidFill>
          <a:ln w="12700">
            <a:solidFill>
              <a:srgbClr val="1E2761"/>
            </a:solidFill>
            <a:prstDash val="solid"/>
          </a:ln>
          <a:effectLst>
            <a:outerShdw sx="100000" sy="100000" kx="0" ky="0" algn="bl" rotWithShape="0" blurRad="76200" dist="12700" dir="5400000">
              <a:srgbClr val="9AA7B4">
                <a:alpha val="22000"/>
              </a:srgbClr>
            </a:outerShdw>
          </a:effectLst>
        </p:spPr>
      </p:sp>
      <p:sp>
        <p:nvSpPr>
          <p:cNvPr id="5" name="Text 3"/>
          <p:cNvSpPr txBox="1"/>
          <p:nvPr/>
        </p:nvSpPr>
        <p:spPr>
          <a:xfrm>
            <a:off x="4297680" y="1883664"/>
            <a:ext cx="356616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field_contract.py</a:t>
            </a:r>
            <a:endParaRPr lang="en-US" sz="1400" dirty="0"/>
          </a:p>
        </p:txBody>
      </p:sp>
      <p:sp>
        <p:nvSpPr>
          <p:cNvPr id="6" name="Text 4"/>
          <p:cNvSpPr txBox="1"/>
          <p:nvPr/>
        </p:nvSpPr>
        <p:spPr>
          <a:xfrm>
            <a:off x="4297680" y="2249424"/>
            <a:ext cx="3566160" cy="27432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Every limit, stated once</a:t>
            </a:r>
            <a:endParaRPr lang="en-US" sz="1200" dirty="0"/>
          </a:p>
        </p:txBody>
      </p:sp>
      <p:sp>
        <p:nvSpPr>
          <p:cNvPr id="7" name="Shape 5"/>
          <p:cNvSpPr/>
          <p:nvPr/>
        </p:nvSpPr>
        <p:spPr>
          <a:xfrm>
            <a:off x="6080760" y="2743200"/>
            <a:ext cx="0" cy="329184"/>
          </a:xfrm>
          <a:prstGeom prst="line">
            <a:avLst/>
          </a:prstGeom>
          <a:noFill/>
          <a:ln w="19050">
            <a:solidFill>
              <a:srgbClr val="AEBCCB"/>
            </a:solidFill>
            <a:prstDash val="solid"/>
          </a:ln>
        </p:spPr>
      </p:sp>
      <p:sp>
        <p:nvSpPr>
          <p:cNvPr id="8" name="Shape 6"/>
          <p:cNvSpPr/>
          <p:nvPr/>
        </p:nvSpPr>
        <p:spPr>
          <a:xfrm>
            <a:off x="1847088" y="3072384"/>
            <a:ext cx="8503920" cy="0"/>
          </a:xfrm>
          <a:prstGeom prst="line">
            <a:avLst/>
          </a:prstGeom>
          <a:noFill/>
          <a:ln w="19050">
            <a:solidFill>
              <a:srgbClr val="AEBCCB"/>
            </a:solidFill>
            <a:prstDash val="solid"/>
          </a:ln>
        </p:spPr>
      </p:sp>
      <p:sp>
        <p:nvSpPr>
          <p:cNvPr id="9" name="Shape 7"/>
          <p:cNvSpPr/>
          <p:nvPr/>
        </p:nvSpPr>
        <p:spPr>
          <a:xfrm>
            <a:off x="1847088" y="3072384"/>
            <a:ext cx="0" cy="329184"/>
          </a:xfrm>
          <a:prstGeom prst="line">
            <a:avLst/>
          </a:prstGeom>
          <a:noFill/>
          <a:ln w="19050">
            <a:solidFill>
              <a:srgbClr val="AEBCCB"/>
            </a:solidFill>
            <a:prstDash val="solid"/>
          </a:ln>
        </p:spPr>
      </p:sp>
      <p:sp>
        <p:nvSpPr>
          <p:cNvPr id="10" name="Shape 8"/>
          <p:cNvSpPr/>
          <p:nvPr/>
        </p:nvSpPr>
        <p:spPr>
          <a:xfrm>
            <a:off x="566928" y="3401568"/>
            <a:ext cx="2560320" cy="1783080"/>
          </a:xfrm>
          <a:prstGeom prst="roundRect">
            <a:avLst>
              <a:gd name="adj" fmla="val 3077"/>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1" name="Text 9"/>
          <p:cNvSpPr txBox="1"/>
          <p:nvPr/>
        </p:nvSpPr>
        <p:spPr>
          <a:xfrm>
            <a:off x="749808" y="3611880"/>
            <a:ext cx="22402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Django model</a:t>
            </a:r>
            <a:endParaRPr lang="en-US" sz="1350" dirty="0"/>
          </a:p>
        </p:txBody>
      </p:sp>
      <p:sp>
        <p:nvSpPr>
          <p:cNvPr id="12" name="Text 10"/>
          <p:cNvSpPr txBox="1"/>
          <p:nvPr/>
        </p:nvSpPr>
        <p:spPr>
          <a:xfrm>
            <a:off x="749808" y="3977640"/>
            <a:ext cx="2249424" cy="1051560"/>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Maximum lengths, numeric</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bounds and patterns become</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database constraints</a:t>
            </a:r>
            <a:endParaRPr lang="en-US" sz="1050" dirty="0"/>
          </a:p>
        </p:txBody>
      </p:sp>
      <p:sp>
        <p:nvSpPr>
          <p:cNvPr id="13" name="Shape 11"/>
          <p:cNvSpPr/>
          <p:nvPr/>
        </p:nvSpPr>
        <p:spPr>
          <a:xfrm>
            <a:off x="4681728" y="3072384"/>
            <a:ext cx="0" cy="329184"/>
          </a:xfrm>
          <a:prstGeom prst="line">
            <a:avLst/>
          </a:prstGeom>
          <a:noFill/>
          <a:ln w="19050">
            <a:solidFill>
              <a:srgbClr val="AEBCCB"/>
            </a:solidFill>
            <a:prstDash val="solid"/>
          </a:ln>
        </p:spPr>
      </p:sp>
      <p:sp>
        <p:nvSpPr>
          <p:cNvPr id="14" name="Shape 12"/>
          <p:cNvSpPr/>
          <p:nvPr/>
        </p:nvSpPr>
        <p:spPr>
          <a:xfrm>
            <a:off x="3401568" y="3401568"/>
            <a:ext cx="2560320" cy="1783080"/>
          </a:xfrm>
          <a:prstGeom prst="roundRect">
            <a:avLst>
              <a:gd name="adj" fmla="val 3077"/>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5" name="Text 13"/>
          <p:cNvSpPr txBox="1"/>
          <p:nvPr/>
        </p:nvSpPr>
        <p:spPr>
          <a:xfrm>
            <a:off x="3584448" y="3611880"/>
            <a:ext cx="22402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REST serializer</a:t>
            </a:r>
            <a:endParaRPr lang="en-US" sz="1350" dirty="0"/>
          </a:p>
        </p:txBody>
      </p:sp>
      <p:sp>
        <p:nvSpPr>
          <p:cNvPr id="16" name="Text 14"/>
          <p:cNvSpPr txBox="1"/>
          <p:nvPr/>
        </p:nvSpPr>
        <p:spPr>
          <a:xfrm>
            <a:off x="3584448" y="3977640"/>
            <a:ext cx="2249424" cy="1051560"/>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Fields are built from the</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contract, so no limit is</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typed into the serializer</a:t>
            </a:r>
            <a:endParaRPr lang="en-US" sz="1050" dirty="0"/>
          </a:p>
        </p:txBody>
      </p:sp>
      <p:sp>
        <p:nvSpPr>
          <p:cNvPr id="17" name="Shape 15"/>
          <p:cNvSpPr/>
          <p:nvPr/>
        </p:nvSpPr>
        <p:spPr>
          <a:xfrm>
            <a:off x="7516368" y="3072384"/>
            <a:ext cx="0" cy="329184"/>
          </a:xfrm>
          <a:prstGeom prst="line">
            <a:avLst/>
          </a:prstGeom>
          <a:noFill/>
          <a:ln w="19050">
            <a:solidFill>
              <a:srgbClr val="AEBCCB"/>
            </a:solidFill>
            <a:prstDash val="solid"/>
          </a:ln>
        </p:spPr>
      </p:sp>
      <p:sp>
        <p:nvSpPr>
          <p:cNvPr id="18" name="Shape 16"/>
          <p:cNvSpPr/>
          <p:nvPr/>
        </p:nvSpPr>
        <p:spPr>
          <a:xfrm>
            <a:off x="6236208" y="3401568"/>
            <a:ext cx="2560320" cy="1783080"/>
          </a:xfrm>
          <a:prstGeom prst="roundRect">
            <a:avLst>
              <a:gd name="adj" fmla="val 3077"/>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9" name="Text 17"/>
          <p:cNvSpPr txBox="1"/>
          <p:nvPr/>
        </p:nvSpPr>
        <p:spPr>
          <a:xfrm>
            <a:off x="6419088" y="3611880"/>
            <a:ext cx="22402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Validation library</a:t>
            </a:r>
            <a:endParaRPr lang="en-US" sz="1350" dirty="0"/>
          </a:p>
        </p:txBody>
      </p:sp>
      <p:sp>
        <p:nvSpPr>
          <p:cNvPr id="20" name="Text 18"/>
          <p:cNvSpPr txBox="1"/>
          <p:nvPr/>
        </p:nvSpPr>
        <p:spPr>
          <a:xfrm>
            <a:off x="6419088" y="3977640"/>
            <a:ext cx="2249424" cy="1051560"/>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Per field rules are generated,</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so a field added to the</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contract is a field with rules</a:t>
            </a:r>
            <a:endParaRPr lang="en-US" sz="1050" dirty="0"/>
          </a:p>
        </p:txBody>
      </p:sp>
      <p:sp>
        <p:nvSpPr>
          <p:cNvPr id="21" name="Shape 19"/>
          <p:cNvSpPr/>
          <p:nvPr/>
        </p:nvSpPr>
        <p:spPr>
          <a:xfrm>
            <a:off x="10351008" y="3072384"/>
            <a:ext cx="0" cy="329184"/>
          </a:xfrm>
          <a:prstGeom prst="line">
            <a:avLst/>
          </a:prstGeom>
          <a:noFill/>
          <a:ln w="19050">
            <a:solidFill>
              <a:srgbClr val="AEBCCB"/>
            </a:solidFill>
            <a:prstDash val="solid"/>
          </a:ln>
        </p:spPr>
      </p:sp>
      <p:sp>
        <p:nvSpPr>
          <p:cNvPr id="22" name="Shape 20"/>
          <p:cNvSpPr/>
          <p:nvPr/>
        </p:nvSpPr>
        <p:spPr>
          <a:xfrm>
            <a:off x="9070848" y="3401568"/>
            <a:ext cx="2560320" cy="1783080"/>
          </a:xfrm>
          <a:prstGeom prst="roundRect">
            <a:avLst>
              <a:gd name="adj" fmla="val 3077"/>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23" name="Text 21"/>
          <p:cNvSpPr txBox="1"/>
          <p:nvPr/>
        </p:nvSpPr>
        <p:spPr>
          <a:xfrm>
            <a:off x="9253728" y="3611880"/>
            <a:ext cx="22402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Mapping workbook</a:t>
            </a:r>
            <a:endParaRPr lang="en-US" sz="1350" dirty="0"/>
          </a:p>
        </p:txBody>
      </p:sp>
      <p:sp>
        <p:nvSpPr>
          <p:cNvPr id="24" name="Text 22"/>
          <p:cNvSpPr txBox="1"/>
          <p:nvPr/>
        </p:nvSpPr>
        <p:spPr>
          <a:xfrm>
            <a:off x="9253728" y="3977640"/>
            <a:ext cx="2249424" cy="1051560"/>
          </a:xfrm>
          <a:prstGeom prst="rect">
            <a:avLst/>
          </a:prstGeom>
          <a:noFill/>
          <a:ln/>
        </p:spPr>
        <p:txBody>
          <a:bodyPr wrap="square" lIns="0" tIns="0" rIns="0" bIns="0" rtlCol="0" anchor="ctr"/>
          <a:lstStyle/>
          <a:p>
            <a:pPr indent="0" marL="0">
              <a:buNone/>
            </a:pPr>
            <a:r>
              <a:rPr lang="en-US" sz="1050" dirty="0">
                <a:solidFill>
                  <a:srgbClr val="44566C"/>
                </a:solidFill>
                <a:latin typeface="Calibri" pitchFamily="34" charset="0"/>
                <a:ea typeface="Calibri" pitchFamily="34" charset="-122"/>
                <a:cs typeface="Calibri" pitchFamily="34" charset="-120"/>
              </a:rPr>
              <a:t>Generated, never typed, so</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the document cannot describe</a:t>
            </a:r>
            <a:endParaRPr lang="en-US" sz="1050" dirty="0"/>
          </a:p>
          <a:p>
            <a:pPr indent="0" marL="0">
              <a:buNone/>
            </a:pPr>
            <a:r>
              <a:rPr lang="en-US" sz="1050" dirty="0">
                <a:solidFill>
                  <a:srgbClr val="44566C"/>
                </a:solidFill>
                <a:latin typeface="Calibri" pitchFamily="34" charset="0"/>
                <a:ea typeface="Calibri" pitchFamily="34" charset="-122"/>
                <a:cs typeface="Calibri" pitchFamily="34" charset="-120"/>
              </a:rPr>
              <a:t>a field that does not exist</a:t>
            </a:r>
            <a:endParaRPr lang="en-US" sz="1050" dirty="0"/>
          </a:p>
        </p:txBody>
      </p:sp>
      <p:sp>
        <p:nvSpPr>
          <p:cNvPr id="25" name="Text 23"/>
          <p:cNvSpPr txBox="1"/>
          <p:nvPr/>
        </p:nvSpPr>
        <p:spPr>
          <a:xfrm>
            <a:off x="566928" y="5394960"/>
            <a:ext cx="11064240" cy="685800"/>
          </a:xfrm>
          <a:prstGeom prst="rect">
            <a:avLst/>
          </a:prstGeom>
          <a:noFill/>
          <a:ln/>
        </p:spPr>
        <p:txBody>
          <a:bodyPr wrap="square" lIns="0" tIns="0" rIns="0" bIns="0" rtlCol="0" anchor="ctr"/>
          <a:lstStyle/>
          <a:p>
            <a:pPr indent="0" marL="0">
              <a:buNone/>
            </a:pPr>
            <a:r>
              <a:rPr lang="en-US" sz="1300" dirty="0">
                <a:solidFill>
                  <a:srgbClr val="22303F"/>
                </a:solidFill>
                <a:latin typeface="Calibri" pitchFamily="34" charset="0"/>
                <a:ea typeface="Calibri" pitchFamily="34" charset="-122"/>
                <a:cs typeface="Calibri" pitchFamily="34" charset="-120"/>
              </a:rPr>
              <a:t>An engineer cannot widen a limit in one place, because there is no second place to widen. The fifth consumer is the schema consistency gate, which compares the contract against the warehouse on every commit.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THREE. THE VALIDATION LIBRARY</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Seventy four questions, no opinions</a:t>
            </a:r>
            <a:endParaRPr lang="en-US" sz="3200" dirty="0"/>
          </a:p>
        </p:txBody>
      </p:sp>
      <p:sp>
        <p:nvSpPr>
          <p:cNvPr id="4" name="Shape 2"/>
          <p:cNvSpPr/>
          <p:nvPr/>
        </p:nvSpPr>
        <p:spPr>
          <a:xfrm>
            <a:off x="566928" y="1691640"/>
            <a:ext cx="3493008" cy="1417320"/>
          </a:xfrm>
          <a:prstGeom prst="roundRect">
            <a:avLst>
              <a:gd name="adj" fmla="val 3871"/>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5" name="Text 3"/>
          <p:cNvSpPr txBox="1"/>
          <p:nvPr/>
        </p:nvSpPr>
        <p:spPr>
          <a:xfrm>
            <a:off x="768096" y="1810512"/>
            <a:ext cx="1097280" cy="77724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74</a:t>
            </a:r>
            <a:endParaRPr lang="en-US" sz="4400" dirty="0"/>
          </a:p>
        </p:txBody>
      </p:sp>
      <p:sp>
        <p:nvSpPr>
          <p:cNvPr id="6" name="Text 4"/>
          <p:cNvSpPr txBox="1"/>
          <p:nvPr/>
        </p:nvSpPr>
        <p:spPr>
          <a:xfrm>
            <a:off x="1892808" y="1975104"/>
            <a:ext cx="2103120" cy="868680"/>
          </a:xfrm>
          <a:prstGeom prst="rect">
            <a:avLst/>
          </a:prstGeom>
          <a:noFill/>
          <a:ln/>
        </p:spPr>
        <p:txBody>
          <a:bodyPr wrap="square" lIns="0" tIns="0" rIns="0" bIns="0" rtlCol="0" anchor="ctr"/>
          <a:lstStyle/>
          <a:p>
            <a:pPr indent="0" marL="0">
              <a:buNone/>
            </a:pPr>
            <a:r>
              <a:rPr lang="en-US" sz="1150" dirty="0">
                <a:solidFill>
                  <a:srgbClr val="44566C"/>
                </a:solidFill>
                <a:latin typeface="Calibri" pitchFamily="34" charset="0"/>
                <a:ea typeface="Calibri" pitchFamily="34" charset="-122"/>
                <a:cs typeface="Calibri" pitchFamily="34" charset="-120"/>
              </a:rPr>
              <a:t>rules applied to every</a:t>
            </a:r>
            <a:endParaRPr lang="en-US" sz="1150" dirty="0"/>
          </a:p>
          <a:p>
            <a:pPr indent="0" marL="0">
              <a:buNone/>
            </a:pPr>
            <a:r>
              <a:rPr lang="en-US" sz="1150" dirty="0">
                <a:solidFill>
                  <a:srgbClr val="44566C"/>
                </a:solidFill>
                <a:latin typeface="Calibri" pitchFamily="34" charset="0"/>
                <a:ea typeface="Calibri" pitchFamily="34" charset="-122"/>
                <a:cs typeface="Calibri" pitchFamily="34" charset="-120"/>
              </a:rPr>
              <a:t>submission</a:t>
            </a:r>
            <a:endParaRPr lang="en-US" sz="1150" dirty="0"/>
          </a:p>
        </p:txBody>
      </p:sp>
      <p:sp>
        <p:nvSpPr>
          <p:cNvPr id="7" name="Shape 5"/>
          <p:cNvSpPr/>
          <p:nvPr/>
        </p:nvSpPr>
        <p:spPr>
          <a:xfrm>
            <a:off x="4352544" y="1691640"/>
            <a:ext cx="3493008" cy="1417320"/>
          </a:xfrm>
          <a:prstGeom prst="roundRect">
            <a:avLst>
              <a:gd name="adj" fmla="val 3871"/>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8" name="Text 6"/>
          <p:cNvSpPr txBox="1"/>
          <p:nvPr/>
        </p:nvSpPr>
        <p:spPr>
          <a:xfrm>
            <a:off x="4553712" y="1810512"/>
            <a:ext cx="1097280" cy="77724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2</a:t>
            </a:r>
            <a:endParaRPr lang="en-US" sz="4400" dirty="0"/>
          </a:p>
        </p:txBody>
      </p:sp>
      <p:sp>
        <p:nvSpPr>
          <p:cNvPr id="9" name="Text 7"/>
          <p:cNvSpPr txBox="1"/>
          <p:nvPr/>
        </p:nvSpPr>
        <p:spPr>
          <a:xfrm>
            <a:off x="5678424" y="1975104"/>
            <a:ext cx="2103120" cy="868680"/>
          </a:xfrm>
          <a:prstGeom prst="rect">
            <a:avLst/>
          </a:prstGeom>
          <a:noFill/>
          <a:ln/>
        </p:spPr>
        <p:txBody>
          <a:bodyPr wrap="square" lIns="0" tIns="0" rIns="0" bIns="0" rtlCol="0" anchor="ctr"/>
          <a:lstStyle/>
          <a:p>
            <a:pPr indent="0" marL="0">
              <a:buNone/>
            </a:pPr>
            <a:r>
              <a:rPr lang="en-US" sz="1150" dirty="0">
                <a:solidFill>
                  <a:srgbClr val="44566C"/>
                </a:solidFill>
                <a:latin typeface="Calibri" pitchFamily="34" charset="0"/>
                <a:ea typeface="Calibri" pitchFamily="34" charset="-122"/>
                <a:cs typeface="Calibri" pitchFamily="34" charset="-120"/>
              </a:rPr>
              <a:t>possible answers per rule:</a:t>
            </a:r>
            <a:endParaRPr lang="en-US" sz="1150" dirty="0"/>
          </a:p>
          <a:p>
            <a:pPr indent="0" marL="0">
              <a:buNone/>
            </a:pPr>
            <a:r>
              <a:rPr lang="en-US" sz="1150" dirty="0">
                <a:solidFill>
                  <a:srgbClr val="44566C"/>
                </a:solidFill>
                <a:latin typeface="Calibri" pitchFamily="34" charset="0"/>
                <a:ea typeface="Calibri" pitchFamily="34" charset="-122"/>
                <a:cs typeface="Calibri" pitchFamily="34" charset="-120"/>
              </a:rPr>
              <a:t>yes and no</a:t>
            </a:r>
            <a:endParaRPr lang="en-US" sz="1150" dirty="0"/>
          </a:p>
        </p:txBody>
      </p:sp>
      <p:sp>
        <p:nvSpPr>
          <p:cNvPr id="10" name="Shape 8"/>
          <p:cNvSpPr/>
          <p:nvPr/>
        </p:nvSpPr>
        <p:spPr>
          <a:xfrm>
            <a:off x="8138160" y="1691640"/>
            <a:ext cx="3493008" cy="1417320"/>
          </a:xfrm>
          <a:prstGeom prst="roundRect">
            <a:avLst>
              <a:gd name="adj" fmla="val 3871"/>
            </a:avLst>
          </a:prstGeom>
          <a:solidFill>
            <a:srgbClr val="FFFFFF"/>
          </a:solidFill>
          <a:ln w="12700">
            <a:solidFill>
              <a:srgbClr val="DDE3EA"/>
            </a:solidFill>
            <a:prstDash val="solid"/>
          </a:ln>
          <a:effectLst>
            <a:outerShdw sx="100000" sy="100000" kx="0" ky="0" algn="bl" rotWithShape="0" blurRad="76200" dist="12700" dir="5400000">
              <a:srgbClr val="9AA7B4">
                <a:alpha val="22000"/>
              </a:srgbClr>
            </a:outerShdw>
          </a:effectLst>
        </p:spPr>
      </p:sp>
      <p:sp>
        <p:nvSpPr>
          <p:cNvPr id="11" name="Text 9"/>
          <p:cNvSpPr txBox="1"/>
          <p:nvPr/>
        </p:nvSpPr>
        <p:spPr>
          <a:xfrm>
            <a:off x="8339328" y="1810512"/>
            <a:ext cx="1097280" cy="77724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0</a:t>
            </a:r>
            <a:endParaRPr lang="en-US" sz="4400" dirty="0"/>
          </a:p>
        </p:txBody>
      </p:sp>
      <p:sp>
        <p:nvSpPr>
          <p:cNvPr id="12" name="Text 10"/>
          <p:cNvSpPr txBox="1"/>
          <p:nvPr/>
        </p:nvSpPr>
        <p:spPr>
          <a:xfrm>
            <a:off x="9464040" y="1975104"/>
            <a:ext cx="2103120" cy="868680"/>
          </a:xfrm>
          <a:prstGeom prst="rect">
            <a:avLst/>
          </a:prstGeom>
          <a:noFill/>
          <a:ln/>
        </p:spPr>
        <p:txBody>
          <a:bodyPr wrap="square" lIns="0" tIns="0" rIns="0" bIns="0" rtlCol="0" anchor="ctr"/>
          <a:lstStyle/>
          <a:p>
            <a:pPr indent="0" marL="0">
              <a:buNone/>
            </a:pPr>
            <a:r>
              <a:rPr lang="en-US" sz="1150" dirty="0">
                <a:solidFill>
                  <a:srgbClr val="44566C"/>
                </a:solidFill>
                <a:latin typeface="Calibri" pitchFamily="34" charset="0"/>
                <a:ea typeface="Calibri" pitchFamily="34" charset="-122"/>
                <a:cs typeface="Calibri" pitchFamily="34" charset="-120"/>
              </a:rPr>
              <a:t>thresholds, weightings</a:t>
            </a:r>
            <a:endParaRPr lang="en-US" sz="1150" dirty="0"/>
          </a:p>
          <a:p>
            <a:pPr indent="0" marL="0">
              <a:buNone/>
            </a:pPr>
            <a:r>
              <a:rPr lang="en-US" sz="1150" dirty="0">
                <a:solidFill>
                  <a:srgbClr val="44566C"/>
                </a:solidFill>
                <a:latin typeface="Calibri" pitchFamily="34" charset="0"/>
                <a:ea typeface="Calibri" pitchFamily="34" charset="-122"/>
                <a:cs typeface="Calibri" pitchFamily="34" charset="-120"/>
              </a:rPr>
              <a:t>or overrides</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3419856"/>
          <a:ext cx="11064240" cy="914400"/>
        </p:xfrm>
        <a:graphic>
          <a:graphicData uri="http://schemas.openxmlformats.org/drawingml/2006/table">
            <a:tbl>
              <a:tblPr/>
              <a:tblGrid>
                <a:gridCol w="6492240"/>
                <a:gridCol w="457200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 rule from the register</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judgement it replaces</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Is the education, health and care plan reference present exactly when the payload states that a plan is held?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reviewer deciding whether a missing reference is acceptable this once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Is the stated year group within one of the year group implied by the date of birth?</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reviewer deciding whether a stated year group looks plausible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Is every field in the payload one of the fields declared in the field contract?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framework quietly discarding a key the client believed it had sent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Has the parent or guardian given explicit consent to processing?</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Nothing. This one is enforced twice, in the serializer and as a database check constraint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66928" y="5897880"/>
            <a:ext cx="11064240" cy="502920"/>
          </a:xfrm>
          <a:prstGeom prst="rect">
            <a:avLst/>
          </a:prstGeom>
          <a:noFill/>
          <a:ln/>
        </p:spPr>
        <p:txBody>
          <a:bodyPr wrap="square" lIns="0" tIns="0" rIns="0" bIns="0" rtlCol="0" anchor="ctr"/>
          <a:lstStyle/>
          <a:p>
            <a:pPr indent="0" marL="0">
              <a:buNone/>
            </a:pPr>
            <a:r>
              <a:rPr lang="en-US" sz="1250" i="1" dirty="0">
                <a:solidFill>
                  <a:srgbClr val="44566C"/>
                </a:solidFill>
                <a:latin typeface="Calibri" pitchFamily="34" charset="0"/>
                <a:ea typeface="Calibri" pitchFamily="34" charset="-122"/>
                <a:cs typeface="Calibri" pitchFamily="34" charset="-120"/>
              </a:rPr>
              <a:t>A rule that raises an exception is recorded as no, never allowed to escape. An exception escaping the validator would either halt ingestion or, far worse, be caught upstream and treated as a pass.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TASK THREE. THE BOUNDARY</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Why the same code runs twice</a:t>
            </a:r>
            <a:endParaRPr lang="en-US" sz="3200" dirty="0"/>
          </a:p>
        </p:txBody>
      </p:sp>
      <p:sp>
        <p:nvSpPr>
          <p:cNvPr id="4" name="Shape 2"/>
          <p:cNvSpPr/>
          <p:nvPr/>
        </p:nvSpPr>
        <p:spPr>
          <a:xfrm>
            <a:off x="566928" y="1737360"/>
            <a:ext cx="3493008" cy="2286000"/>
          </a:xfrm>
          <a:prstGeom prst="roundRect">
            <a:avLst>
              <a:gd name="adj" fmla="val 2400"/>
            </a:avLst>
          </a:prstGeom>
          <a:solidFill>
            <a:srgbClr val="F7E9E9"/>
          </a:solidFill>
          <a:ln w="12700">
            <a:solidFill>
              <a:srgbClr val="E4C4C4"/>
            </a:solidFill>
            <a:prstDash val="solid"/>
          </a:ln>
          <a:effectLst>
            <a:outerShdw sx="100000" sy="100000" kx="0" ky="0" algn="bl" rotWithShape="0" blurRad="76200" dist="12700" dir="5400000">
              <a:srgbClr val="9AA7B4">
                <a:alpha val="22000"/>
              </a:srgbClr>
            </a:outerShdw>
          </a:effectLst>
        </p:spPr>
      </p:sp>
      <p:sp>
        <p:nvSpPr>
          <p:cNvPr id="5" name="Text 3"/>
          <p:cNvSpPr txBox="1"/>
          <p:nvPr/>
        </p:nvSpPr>
        <p:spPr>
          <a:xfrm>
            <a:off x="768096" y="1938528"/>
            <a:ext cx="3108960" cy="548640"/>
          </a:xfrm>
          <a:prstGeom prst="rect">
            <a:avLst/>
          </a:prstGeom>
          <a:noFill/>
          <a:ln/>
        </p:spPr>
        <p:txBody>
          <a:bodyPr wrap="square" lIns="0" tIns="0" rIns="0" bIns="0" rtlCol="0" anchor="ctr"/>
          <a:lstStyle/>
          <a:p>
            <a:pPr indent="0" marL="0">
              <a:buNone/>
            </a:pPr>
            <a:r>
              <a:rPr lang="en-US" sz="1400" b="1" dirty="0">
                <a:solidFill>
                  <a:srgbClr val="C1272D"/>
                </a:solidFill>
                <a:latin typeface="Calibri" pitchFamily="34" charset="0"/>
                <a:ea typeface="Calibri" pitchFamily="34" charset="-122"/>
                <a:cs typeface="Calibri" pitchFamily="34" charset="-120"/>
              </a:rPr>
              <a:t>Validate only at the application</a:t>
            </a:r>
            <a:endParaRPr lang="en-US" sz="1400" dirty="0"/>
          </a:p>
        </p:txBody>
      </p:sp>
      <p:sp>
        <p:nvSpPr>
          <p:cNvPr id="6" name="Text 4"/>
          <p:cNvSpPr txBox="1"/>
          <p:nvPr/>
        </p:nvSpPr>
        <p:spPr>
          <a:xfrm>
            <a:off x="768096" y="2395728"/>
            <a:ext cx="3127248" cy="1417320"/>
          </a:xfrm>
          <a:prstGeom prst="rect">
            <a:avLst/>
          </a:prstGeom>
          <a:noFill/>
          <a:ln/>
        </p:spPr>
        <p:txBody>
          <a:bodyPr wrap="square" lIns="0" tIns="0" rIns="0" bIns="0" rtlCol="0" anchor="ctr"/>
          <a:lstStyle/>
          <a:p>
            <a:pPr indent="0" marL="0">
              <a:buNone/>
            </a:pPr>
            <a:r>
              <a:rPr lang="en-US" sz="1150" dirty="0">
                <a:solidFill>
                  <a:srgbClr val="5A2A2A"/>
                </a:solidFill>
                <a:latin typeface="Calibri" pitchFamily="34" charset="0"/>
                <a:ea typeface="Calibri" pitchFamily="34" charset="-122"/>
                <a:cs typeface="Calibri" pitchFamily="34" charset="-120"/>
              </a:rPr>
              <a:t>A payload arriving by any other route reaches the warehouse unvalidated: a backfill, a migration, a manual load, a second service written next year.</a:t>
            </a:r>
            <a:endParaRPr lang="en-US" sz="1150" dirty="0"/>
          </a:p>
        </p:txBody>
      </p:sp>
      <p:sp>
        <p:nvSpPr>
          <p:cNvPr id="7" name="Shape 5"/>
          <p:cNvSpPr/>
          <p:nvPr/>
        </p:nvSpPr>
        <p:spPr>
          <a:xfrm>
            <a:off x="4352544" y="1737360"/>
            <a:ext cx="3493008" cy="2286000"/>
          </a:xfrm>
          <a:prstGeom prst="roundRect">
            <a:avLst>
              <a:gd name="adj" fmla="val 2400"/>
            </a:avLst>
          </a:prstGeom>
          <a:solidFill>
            <a:srgbClr val="F7E9E9"/>
          </a:solidFill>
          <a:ln w="12700">
            <a:solidFill>
              <a:srgbClr val="E4C4C4"/>
            </a:solidFill>
            <a:prstDash val="solid"/>
          </a:ln>
          <a:effectLst>
            <a:outerShdw sx="100000" sy="100000" kx="0" ky="0" algn="bl" rotWithShape="0" blurRad="76200" dist="12700" dir="5400000">
              <a:srgbClr val="9AA7B4">
                <a:alpha val="22000"/>
              </a:srgbClr>
            </a:outerShdw>
          </a:effectLst>
        </p:spPr>
      </p:sp>
      <p:sp>
        <p:nvSpPr>
          <p:cNvPr id="8" name="Text 6"/>
          <p:cNvSpPr txBox="1"/>
          <p:nvPr/>
        </p:nvSpPr>
        <p:spPr>
          <a:xfrm>
            <a:off x="4553712" y="1938528"/>
            <a:ext cx="3108960" cy="548640"/>
          </a:xfrm>
          <a:prstGeom prst="rect">
            <a:avLst/>
          </a:prstGeom>
          <a:noFill/>
          <a:ln/>
        </p:spPr>
        <p:txBody>
          <a:bodyPr wrap="square" lIns="0" tIns="0" rIns="0" bIns="0" rtlCol="0" anchor="ctr"/>
          <a:lstStyle/>
          <a:p>
            <a:pPr indent="0" marL="0">
              <a:buNone/>
            </a:pPr>
            <a:r>
              <a:rPr lang="en-US" sz="1400" b="1" dirty="0">
                <a:solidFill>
                  <a:srgbClr val="C1272D"/>
                </a:solidFill>
                <a:latin typeface="Calibri" pitchFamily="34" charset="0"/>
                <a:ea typeface="Calibri" pitchFamily="34" charset="-122"/>
                <a:cs typeface="Calibri" pitchFamily="34" charset="-120"/>
              </a:rPr>
              <a:t>Validate only at load</a:t>
            </a:r>
            <a:endParaRPr lang="en-US" sz="1400" dirty="0"/>
          </a:p>
        </p:txBody>
      </p:sp>
      <p:sp>
        <p:nvSpPr>
          <p:cNvPr id="9" name="Text 7"/>
          <p:cNvSpPr txBox="1"/>
          <p:nvPr/>
        </p:nvSpPr>
        <p:spPr>
          <a:xfrm>
            <a:off x="4553712" y="2395728"/>
            <a:ext cx="3127248" cy="1280160"/>
          </a:xfrm>
          <a:prstGeom prst="rect">
            <a:avLst/>
          </a:prstGeom>
          <a:noFill/>
          <a:ln/>
        </p:spPr>
        <p:txBody>
          <a:bodyPr wrap="square" lIns="0" tIns="0" rIns="0" bIns="0" rtlCol="0" anchor="ctr"/>
          <a:lstStyle/>
          <a:p>
            <a:pPr indent="0" marL="0">
              <a:buNone/>
            </a:pPr>
            <a:r>
              <a:rPr lang="en-US" sz="1150" dirty="0">
                <a:solidFill>
                  <a:srgbClr val="5A2A2A"/>
                </a:solidFill>
                <a:latin typeface="Calibri" pitchFamily="34" charset="0"/>
                <a:ea typeface="Calibri" pitchFamily="34" charset="-122"/>
                <a:cs typeface="Calibri" pitchFamily="34" charset="-120"/>
              </a:rPr>
              <a:t>The parent gets no immediate feedback, and a bad submission occupies the raw landing bucket until somebody investigates it.</a:t>
            </a:r>
            <a:endParaRPr lang="en-US" sz="1150" dirty="0"/>
          </a:p>
        </p:txBody>
      </p:sp>
      <p:sp>
        <p:nvSpPr>
          <p:cNvPr id="10" name="Shape 8"/>
          <p:cNvSpPr/>
          <p:nvPr/>
        </p:nvSpPr>
        <p:spPr>
          <a:xfrm>
            <a:off x="8138160" y="1737360"/>
            <a:ext cx="3493008" cy="2286000"/>
          </a:xfrm>
          <a:prstGeom prst="roundRect">
            <a:avLst>
              <a:gd name="adj" fmla="val 2400"/>
            </a:avLst>
          </a:prstGeom>
          <a:solidFill>
            <a:srgbClr val="E6F2EC"/>
          </a:solidFill>
          <a:ln w="12700">
            <a:solidFill>
              <a:srgbClr val="BBD9CB"/>
            </a:solidFill>
            <a:prstDash val="solid"/>
          </a:ln>
          <a:effectLst>
            <a:outerShdw sx="100000" sy="100000" kx="0" ky="0" algn="bl" rotWithShape="0" blurRad="76200" dist="12700" dir="5400000">
              <a:srgbClr val="9AA7B4">
                <a:alpha val="22000"/>
              </a:srgbClr>
            </a:outerShdw>
          </a:effectLst>
        </p:spPr>
      </p:sp>
      <p:sp>
        <p:nvSpPr>
          <p:cNvPr id="11" name="Text 9"/>
          <p:cNvSpPr txBox="1"/>
          <p:nvPr/>
        </p:nvSpPr>
        <p:spPr>
          <a:xfrm>
            <a:off x="8339328" y="1938528"/>
            <a:ext cx="3108960" cy="548640"/>
          </a:xfrm>
          <a:prstGeom prst="rect">
            <a:avLst/>
          </a:prstGeom>
          <a:noFill/>
          <a:ln/>
        </p:spPr>
        <p:txBody>
          <a:bodyPr wrap="square" lIns="0" tIns="0" rIns="0" bIns="0" rtlCol="0" anchor="ctr"/>
          <a:lstStyle/>
          <a:p>
            <a:pPr indent="0" marL="0">
              <a:buNone/>
            </a:pPr>
            <a:r>
              <a:rPr lang="en-US" sz="1400" b="1" dirty="0">
                <a:solidFill>
                  <a:srgbClr val="1B7F5F"/>
                </a:solidFill>
                <a:latin typeface="Calibri" pitchFamily="34" charset="0"/>
                <a:ea typeface="Calibri" pitchFamily="34" charset="-122"/>
                <a:cs typeface="Calibri" pitchFamily="34" charset="-120"/>
              </a:rPr>
              <a:t>Run the same code at both</a:t>
            </a:r>
            <a:endParaRPr lang="en-US" sz="1400" dirty="0"/>
          </a:p>
        </p:txBody>
      </p:sp>
      <p:sp>
        <p:nvSpPr>
          <p:cNvPr id="12" name="Text 10"/>
          <p:cNvSpPr txBox="1"/>
          <p:nvPr/>
        </p:nvSpPr>
        <p:spPr>
          <a:xfrm>
            <a:off x="8339328" y="2395728"/>
            <a:ext cx="3127248" cy="1371600"/>
          </a:xfrm>
          <a:prstGeom prst="rect">
            <a:avLst/>
          </a:prstGeom>
          <a:noFill/>
          <a:ln/>
        </p:spPr>
        <p:txBody>
          <a:bodyPr wrap="square" lIns="0" tIns="0" rIns="0" bIns="0" rtlCol="0" anchor="ctr"/>
          <a:lstStyle/>
          <a:p>
            <a:pPr indent="0" marL="0">
              <a:buNone/>
            </a:pPr>
            <a:r>
              <a:rPr lang="en-US" sz="1150" dirty="0">
                <a:solidFill>
                  <a:srgbClr val="1F4A3B"/>
                </a:solidFill>
                <a:latin typeface="Calibri" pitchFamily="34" charset="0"/>
                <a:ea typeface="Calibri" pitchFamily="34" charset="-122"/>
                <a:cs typeface="Calibri" pitchFamily="34" charset="-120"/>
              </a:rPr>
              <a:t>Immediate feedback for the parent, and a boundary nothing can route around. The important word is same: two implementations of the same rules drift, and the drift is silent.</a:t>
            </a:r>
            <a:endParaRPr lang="en-US" sz="1150" dirty="0"/>
          </a:p>
        </p:txBody>
      </p:sp>
      <p:sp>
        <p:nvSpPr>
          <p:cNvPr id="13" name="Shape 11"/>
          <p:cNvSpPr/>
          <p:nvPr/>
        </p:nvSpPr>
        <p:spPr>
          <a:xfrm>
            <a:off x="566928" y="4343400"/>
            <a:ext cx="11064240" cy="1554480"/>
          </a:xfrm>
          <a:prstGeom prst="roundRect">
            <a:avLst>
              <a:gd name="adj" fmla="val 3529"/>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14" name="Text 12"/>
          <p:cNvSpPr txBox="1"/>
          <p:nvPr/>
        </p:nvSpPr>
        <p:spPr>
          <a:xfrm>
            <a:off x="932688" y="4553712"/>
            <a:ext cx="10332720" cy="32004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Verify every claim in this submission in under a minute</a:t>
            </a:r>
            <a:endParaRPr lang="en-US" sz="1800" dirty="0"/>
          </a:p>
        </p:txBody>
      </p:sp>
      <p:sp>
        <p:nvSpPr>
          <p:cNvPr id="15" name="Text 13"/>
          <p:cNvSpPr txBox="1"/>
          <p:nvPr/>
        </p:nvSpPr>
        <p:spPr>
          <a:xfrm>
            <a:off x="932688" y="4956048"/>
            <a:ext cx="10332720" cy="822960"/>
          </a:xfrm>
          <a:prstGeom prst="rect">
            <a:avLst/>
          </a:prstGeom>
          <a:noFill/>
          <a:ln/>
        </p:spPr>
        <p:txBody>
          <a:bodyPr wrap="square" lIns="0" tIns="0" rIns="0" bIns="0" rtlCol="0" anchor="ctr"/>
          <a:lstStyle/>
          <a:p>
            <a:pPr indent="0" marL="0">
              <a:buNone/>
            </a:pPr>
            <a:r>
              <a:rPr lang="en-US" sz="1050" dirty="0">
                <a:solidFill>
                  <a:srgbClr val="22303F"/>
                </a:solidFill>
                <a:latin typeface="Courier New" pitchFamily="34" charset="0"/>
                <a:ea typeface="Courier New" pitchFamily="34" charset="-122"/>
                <a:cs typeface="Courier New" pitchFamily="34" charset="-120"/>
              </a:rPr>
              <a:t>python3 -m pytest                                        →  51 passed</a:t>
            </a:r>
            <a:endParaRPr lang="en-US" sz="1050" dirty="0"/>
          </a:p>
          <a:p>
            <a:pPr indent="0" marL="0">
              <a:buNone/>
            </a:pPr>
            <a:r>
              <a:rPr lang="en-US" sz="1050" dirty="0">
                <a:solidFill>
                  <a:srgbClr val="22303F"/>
                </a:solidFill>
                <a:latin typeface="Courier New" pitchFamily="34" charset="0"/>
                <a:ea typeface="Courier New" pitchFamily="34" charset="-122"/>
                <a:cs typeface="Courier New" pitchFamily="34" charset="-120"/>
              </a:rPr>
              <a:t>python3 scripts/assert_schema_consistency.py             →  the schemas agree</a:t>
            </a:r>
            <a:endParaRPr lang="en-US" sz="1050" dirty="0"/>
          </a:p>
          <a:p>
            <a:pPr indent="0" marL="0">
              <a:buNone/>
            </a:pPr>
            <a:r>
              <a:rPr lang="en-US" sz="1050" dirty="0">
                <a:solidFill>
                  <a:srgbClr val="22303F"/>
                </a:solidFill>
                <a:latin typeface="Courier New" pitchFamily="34" charset="0"/>
                <a:ea typeface="Courier New" pitchFamily="34" charset="-122"/>
                <a:cs typeface="Courier New" pitchFamily="34" charset="-120"/>
              </a:rPr>
              <a:t>bash quarantine-demonstration/run_fail_closed_demonstration.sh   →  DEMONSTRATION SUCCEEDED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00" kern="0" dirty="0">
                <a:solidFill>
                  <a:srgbClr val="44566C"/>
                </a:solidFill>
                <a:latin typeface="Calibri" pitchFamily="34" charset="0"/>
                <a:ea typeface="Calibri" pitchFamily="34" charset="-122"/>
                <a:cs typeface="Calibri" pitchFamily="34" charset="-120"/>
              </a:rPr>
              <a:t>HONEST LIMITS</a:t>
            </a:r>
            <a:endParaRPr lang="en-US" sz="1100" dirty="0"/>
          </a:p>
        </p:txBody>
      </p:sp>
      <p:sp>
        <p:nvSpPr>
          <p:cNvPr id="3" name="Text 1"/>
          <p:cNvSpPr txBox="1"/>
          <p:nvPr/>
        </p:nvSpPr>
        <p:spPr>
          <a:xfrm>
            <a:off x="566928" y="658368"/>
            <a:ext cx="11055096"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What this does not do</a:t>
            </a:r>
            <a:endParaRPr lang="en-US" sz="3200" dirty="0"/>
          </a:p>
        </p:txBody>
      </p:sp>
      <p:sp>
        <p:nvSpPr>
          <p:cNvPr id="4" name="Text 2"/>
          <p:cNvSpPr txBox="1"/>
          <p:nvPr/>
        </p:nvSpPr>
        <p:spPr>
          <a:xfrm>
            <a:off x="566928" y="1517904"/>
            <a:ext cx="11064240" cy="548640"/>
          </a:xfrm>
          <a:prstGeom prst="rect">
            <a:avLst/>
          </a:prstGeom>
          <a:noFill/>
          <a:ln/>
        </p:spPr>
        <p:txBody>
          <a:bodyPr wrap="square" lIns="0" tIns="0" rIns="0" bIns="0" rtlCol="0" anchor="ctr"/>
          <a:lstStyle/>
          <a:p>
            <a:pPr indent="0" marL="0">
              <a:buNone/>
            </a:pPr>
            <a:r>
              <a:rPr lang="en-US" sz="1300" dirty="0">
                <a:solidFill>
                  <a:srgbClr val="44566C"/>
                </a:solidFill>
                <a:latin typeface="Calibri" pitchFamily="34" charset="0"/>
                <a:ea typeface="Calibri" pitchFamily="34" charset="-122"/>
                <a:cs typeface="Calibri" pitchFamily="34" charset="-120"/>
              </a:rPr>
              <a:t>Stating the boundary of a piece of work matters more than claiming completeness. A demonstration that claims more than it shows is the same species of problem as a linter that warns and continues.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64240" cy="914400"/>
        </p:xfrm>
        <a:graphic>
          <a:graphicData uri="http://schemas.openxmlformats.org/drawingml/2006/table">
            <a:tbl>
              <a:tblPr/>
              <a:tblGrid>
                <a:gridCol w="6035040"/>
                <a:gridCol w="502920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 covered</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would close it</a:t>
                      </a:r>
                      <a:endParaRPr lang="en-US" sz="120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1E2761"/>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No scan for vulnerable dependencies. Versions are pinned exactly, which makes the build reproducible but not current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Dependabot or an equivalent, plus a gate on known vulnerabilities with a defined severity threshold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No policy engine over the Terraform plan. The assertions in gate two are targeted searches that catch the named mistakes and nothing else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Open Policy Agent or Checkov, evaluating the plan output rather than the source text</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The Terraform is validated, not exercised. Validation proves the configuration is correct against the provider schema, not that the estate behaves as intended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Terratest against a throwaway project, asserting that the write only identity genuinely cannot read</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The row access policy is applied by a job rather than by a first class resource</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c>
                  <a:txBody>
                    <a:bodyPr/>
                    <a:lstStyle/>
                    <a:p>
                      <a:pPr indent="0" marL="0">
                        <a:buNone/>
                      </a:pPr>
                      <a:r>
                        <a:rPr lang="en-US" sz="1150" dirty="0">
                          <a:solidFill>
                            <a:srgbClr val="22303F"/>
                          </a:solidFill>
                          <a:latin typeface="Calibri" pitchFamily="34" charset="0"/>
                          <a:ea typeface="Calibri" pitchFamily="34" charset="-122"/>
                          <a:cs typeface="Calibri" pitchFamily="34" charset="-120"/>
                        </a:rPr>
                        <a:t>A dedicated resource once it is available, keeping the statement in version control either way</a:t>
                      </a:r>
                      <a:endParaRPr lang="en-US" sz="1150" dirty="0">
                        <a:latin typeface="Calibri" charset="0"/>
                        <a:ea typeface="Calibri" charset="0"/>
                        <a:cs typeface="Calibri" charset="0"/>
                      </a:endParaRPr>
                    </a:p>
                  </a:txBody>
                  <a:tcPr marL="118872" marR="118872" marT="118872" marB="118872" anchor="t">
                    <a:lnL w="12700" cap="flat" cmpd="sng" algn="ctr">
                      <a:solidFill>
                        <a:srgbClr val="DDE3EA"/>
                      </a:solidFill>
                      <a:prstDash val="solid"/>
                      <a:round/>
                      <a:headEnd type="none" w="med" len="med"/>
                      <a:tailEnd type="none" w="med" len="med"/>
                    </a:lnL>
                    <a:lnR w="12700" cap="flat" cmpd="sng" algn="ctr">
                      <a:solidFill>
                        <a:srgbClr val="DDE3EA"/>
                      </a:solidFill>
                      <a:prstDash val="solid"/>
                      <a:round/>
                      <a:headEnd type="none" w="med" len="med"/>
                      <a:tailEnd type="none" w="med" len="med"/>
                    </a:lnR>
                    <a:lnT w="12700" cap="flat" cmpd="sng" algn="ctr">
                      <a:solidFill>
                        <a:srgbClr val="DDE3EA"/>
                      </a:solidFill>
                      <a:prstDash val="solid"/>
                      <a:round/>
                      <a:headEnd type="none" w="med" len="med"/>
                      <a:tailEnd type="none" w="med" len="med"/>
                    </a:lnT>
                    <a:lnB w="12700" cap="flat" cmpd="sng" algn="ctr">
                      <a:solidFill>
                        <a:srgbClr val="DDE3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230368"/>
            <a:ext cx="11064240" cy="1078992"/>
          </a:xfrm>
          <a:prstGeom prst="roundRect">
            <a:avLst>
              <a:gd name="adj" fmla="val 5085"/>
            </a:avLst>
          </a:prstGeom>
          <a:solidFill>
            <a:srgbClr val="EEF2F7"/>
          </a:solidFill>
          <a:ln w="12700">
            <a:solidFill>
              <a:srgbClr val="CBD6E2"/>
            </a:solidFill>
            <a:prstDash val="solid"/>
          </a:ln>
          <a:effectLst>
            <a:outerShdw sx="100000" sy="100000" kx="0" ky="0" algn="bl" rotWithShape="0" blurRad="76200" dist="12700" dir="5400000">
              <a:srgbClr val="9AA7B4">
                <a:alpha val="22000"/>
              </a:srgbClr>
            </a:outerShdw>
          </a:effectLst>
        </p:spPr>
      </p:sp>
      <p:sp>
        <p:nvSpPr>
          <p:cNvPr id="7" name="Text 4"/>
          <p:cNvSpPr txBox="1"/>
          <p:nvPr/>
        </p:nvSpPr>
        <p:spPr>
          <a:xfrm>
            <a:off x="932688" y="5541264"/>
            <a:ext cx="10332720" cy="502920"/>
          </a:xfrm>
          <a:prstGeom prst="rect">
            <a:avLst/>
          </a:prstGeom>
          <a:noFill/>
          <a:ln/>
        </p:spPr>
        <p:txBody>
          <a:bodyPr wrap="square" lIns="0" tIns="0" rIns="0" bIns="0" rtlCol="0" anchor="ctr"/>
          <a:lstStyle/>
          <a:p>
            <a:pPr indent="0" marL="0">
              <a:buNone/>
            </a:pPr>
            <a:r>
              <a:rPr lang="en-US" sz="1350" dirty="0">
                <a:solidFill>
                  <a:srgbClr val="22303F"/>
                </a:solidFill>
                <a:latin typeface="Calibri" pitchFamily="34" charset="0"/>
                <a:ea typeface="Calibri" pitchFamily="34" charset="-122"/>
                <a:cs typeface="Calibri" pitchFamily="34" charset="-120"/>
              </a:rPr>
              <a:t>Each of these is a deliberate scope decision for a four to six hour project, not an oversight. I would rather name the boundary than let a reviewer discover it.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A2B"/>
        </a:solidFill>
      </p:bgPr>
    </p:bg>
    <p:spTree>
      <p:nvGrpSpPr>
        <p:cNvPr id="1" name=""/>
        <p:cNvGrpSpPr/>
        <p:nvPr/>
      </p:nvGrpSpPr>
      <p:grpSpPr>
        <a:xfrm>
          <a:off x="0" y="0"/>
          <a:ext cx="0" cy="0"/>
          <a:chOff x="0" y="0"/>
          <a:chExt cx="0" cy="0"/>
        </a:xfrm>
      </p:grpSpPr>
      <p:sp>
        <p:nvSpPr>
          <p:cNvPr id="2" name="Text 0"/>
          <p:cNvSpPr txBox="1"/>
          <p:nvPr/>
        </p:nvSpPr>
        <p:spPr>
          <a:xfrm>
            <a:off x="566928" y="1371600"/>
            <a:ext cx="10058400" cy="365760"/>
          </a:xfrm>
          <a:prstGeom prst="rect">
            <a:avLst/>
          </a:prstGeom>
          <a:noFill/>
          <a:ln/>
        </p:spPr>
        <p:txBody>
          <a:bodyPr wrap="square" lIns="0" tIns="0" rIns="0" bIns="0" rtlCol="0" anchor="ctr"/>
          <a:lstStyle/>
          <a:p>
            <a:pPr indent="0" marL="0">
              <a:buNone/>
            </a:pPr>
            <a:r>
              <a:rPr lang="en-US" sz="1200" b="1" spc="200" kern="0" dirty="0">
                <a:solidFill>
                  <a:srgbClr val="6E8299"/>
                </a:solidFill>
                <a:latin typeface="Calibri" pitchFamily="34" charset="0"/>
                <a:ea typeface="Calibri" pitchFamily="34" charset="-122"/>
                <a:cs typeface="Calibri" pitchFamily="34" charset="-120"/>
              </a:rPr>
              <a:t>The one sentence</a:t>
            </a:r>
            <a:endParaRPr lang="en-US" sz="1200" dirty="0"/>
          </a:p>
        </p:txBody>
      </p:sp>
      <p:sp>
        <p:nvSpPr>
          <p:cNvPr id="3" name="Text 1"/>
          <p:cNvSpPr txBox="1"/>
          <p:nvPr/>
        </p:nvSpPr>
        <p:spPr>
          <a:xfrm>
            <a:off x="566928" y="1874520"/>
            <a:ext cx="10607040" cy="137160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Every control here replaces something a person</a:t>
            </a:r>
            <a:endParaRPr lang="en-US" sz="3300" dirty="0"/>
          </a:p>
          <a:p>
            <a:pPr indent="0" marL="0">
              <a:buNone/>
            </a:pPr>
            <a:r>
              <a:rPr lang="en-US" sz="3300" b="1" dirty="0">
                <a:solidFill>
                  <a:srgbClr val="FFFFFF"/>
                </a:solidFill>
                <a:latin typeface="Cambria" pitchFamily="34" charset="0"/>
                <a:ea typeface="Cambria" pitchFamily="34" charset="-122"/>
                <a:cs typeface="Cambria" pitchFamily="34" charset="-120"/>
              </a:rPr>
              <a:t>had to remember with something a machine refuses.</a:t>
            </a:r>
            <a:endParaRPr lang="en-US" sz="3300" dirty="0"/>
          </a:p>
        </p:txBody>
      </p:sp>
      <p:sp>
        <p:nvSpPr>
          <p:cNvPr id="4" name="Text 2"/>
          <p:cNvSpPr txBox="1"/>
          <p:nvPr/>
        </p:nvSpPr>
        <p:spPr>
          <a:xfrm>
            <a:off x="566928" y="3337560"/>
            <a:ext cx="9692640" cy="548640"/>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That is the only design principle used in this submission. The Terraform, the pipeline and the validation library are three applications of it.</a:t>
            </a:r>
            <a:endParaRPr lang="en-US" sz="1400" dirty="0"/>
          </a:p>
        </p:txBody>
      </p:sp>
      <p:sp>
        <p:nvSpPr>
          <p:cNvPr id="5" name="Shape 3"/>
          <p:cNvSpPr/>
          <p:nvPr/>
        </p:nvSpPr>
        <p:spPr>
          <a:xfrm>
            <a:off x="566928" y="4297680"/>
            <a:ext cx="5394960" cy="1645920"/>
          </a:xfrm>
          <a:prstGeom prst="roundRect">
            <a:avLst>
              <a:gd name="adj" fmla="val 3333"/>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6" name="Text 4"/>
          <p:cNvSpPr txBox="1"/>
          <p:nvPr/>
        </p:nvSpPr>
        <p:spPr>
          <a:xfrm>
            <a:off x="886968" y="4526280"/>
            <a:ext cx="4754880" cy="347472"/>
          </a:xfrm>
          <a:prstGeom prst="rect">
            <a:avLst/>
          </a:prstGeom>
          <a:noFill/>
          <a:ln/>
        </p:spPr>
        <p:txBody>
          <a:bodyPr wrap="square" lIns="0" tIns="0" rIns="0" bIns="0" rtlCol="0" anchor="ctr"/>
          <a:lstStyle/>
          <a:p>
            <a:pPr indent="0" marL="0">
              <a:buNone/>
            </a:pPr>
            <a:r>
              <a:rPr lang="en-US" sz="2000" b="1" dirty="0">
                <a:solidFill>
                  <a:srgbClr val="CADCFC"/>
                </a:solidFill>
                <a:latin typeface="Cambria" pitchFamily="34" charset="0"/>
                <a:ea typeface="Cambria" pitchFamily="34" charset="-122"/>
                <a:cs typeface="Cambria" pitchFamily="34" charset="-120"/>
              </a:rPr>
              <a:t>Thank you</a:t>
            </a:r>
            <a:endParaRPr lang="en-US" sz="2000" dirty="0"/>
          </a:p>
        </p:txBody>
      </p:sp>
      <p:sp>
        <p:nvSpPr>
          <p:cNvPr id="7" name="Text 5"/>
          <p:cNvSpPr txBox="1"/>
          <p:nvPr/>
        </p:nvSpPr>
        <p:spPr>
          <a:xfrm>
            <a:off x="886968" y="4937760"/>
            <a:ext cx="4754880" cy="868680"/>
          </a:xfrm>
          <a:prstGeom prst="rect">
            <a:avLst/>
          </a:prstGeom>
          <a:noFill/>
          <a:ln/>
        </p:spPr>
        <p:txBody>
          <a:bodyPr wrap="square" lIns="0" tIns="0" rIns="0" bIns="0" rtlCol="0" anchor="ctr"/>
          <a:lstStyle/>
          <a:p>
            <a:pPr indent="0" marL="0">
              <a:buNone/>
            </a:pPr>
            <a:r>
              <a:rPr lang="en-US" sz="1150" dirty="0">
                <a:solidFill>
                  <a:srgbClr val="9FB3C8"/>
                </a:solidFill>
                <a:latin typeface="Calibri" pitchFamily="34" charset="0"/>
                <a:ea typeface="Calibri" pitchFamily="34" charset="-122"/>
                <a:cs typeface="Calibri" pitchFamily="34" charset="-120"/>
              </a:rPr>
              <a:t>Anuradha</a:t>
            </a:r>
            <a:endParaRPr lang="en-US" sz="1150" dirty="0"/>
          </a:p>
          <a:p>
            <a:pPr indent="0" marL="0">
              <a:buNone/>
            </a:pPr>
            <a:r>
              <a:rPr lang="en-US" sz="1150" dirty="0">
                <a:solidFill>
                  <a:srgbClr val="9FB3C8"/>
                </a:solidFill>
                <a:latin typeface="Calibri" pitchFamily="34" charset="0"/>
                <a:ea typeface="Calibri" pitchFamily="34" charset="-122"/>
                <a:cs typeface="Calibri" pitchFamily="34" charset="-120"/>
              </a:rPr>
              <a:t>anuradha@tecofize.com</a:t>
            </a:r>
            <a:endParaRPr lang="en-US" sz="1150" dirty="0"/>
          </a:p>
          <a:p>
            <a:pPr indent="0" marL="0">
              <a:buNone/>
            </a:pPr>
            <a:r>
              <a:rPr lang="en-US" sz="1150" dirty="0">
                <a:solidFill>
                  <a:srgbClr val="9FB3C8"/>
                </a:solidFill>
                <a:latin typeface="Calibri" pitchFamily="34" charset="0"/>
                <a:ea typeface="Calibri" pitchFamily="34" charset="-122"/>
                <a:cs typeface="Calibri" pitchFamily="34" charset="-120"/>
              </a:rPr>
              <a:t>Junior Cloud and Development Operations Engineer</a:t>
            </a:r>
            <a:endParaRPr lang="en-US" sz="1150" dirty="0"/>
          </a:p>
        </p:txBody>
      </p:sp>
      <p:sp>
        <p:nvSpPr>
          <p:cNvPr id="8" name="Shape 6"/>
          <p:cNvSpPr/>
          <p:nvPr/>
        </p:nvSpPr>
        <p:spPr>
          <a:xfrm>
            <a:off x="6236208" y="4297680"/>
            <a:ext cx="5394960" cy="1645920"/>
          </a:xfrm>
          <a:prstGeom prst="roundRect">
            <a:avLst>
              <a:gd name="adj" fmla="val 3333"/>
            </a:avLst>
          </a:prstGeom>
          <a:solidFill>
            <a:srgbClr val="18263C"/>
          </a:solidFill>
          <a:ln w="12700">
            <a:solidFill>
              <a:srgbClr val="2C405E"/>
            </a:solidFill>
            <a:prstDash val="solid"/>
          </a:ln>
          <a:effectLst>
            <a:outerShdw sx="100000" sy="100000" kx="0" ky="0" algn="bl" rotWithShape="0" blurRad="76200" dist="12700" dir="5400000">
              <a:srgbClr val="9AA7B4">
                <a:alpha val="22000"/>
              </a:srgbClr>
            </a:outerShdw>
          </a:effectLst>
        </p:spPr>
      </p:sp>
      <p:sp>
        <p:nvSpPr>
          <p:cNvPr id="9" name="Text 7"/>
          <p:cNvSpPr txBox="1"/>
          <p:nvPr/>
        </p:nvSpPr>
        <p:spPr>
          <a:xfrm>
            <a:off x="6556248" y="4526280"/>
            <a:ext cx="4754880" cy="347472"/>
          </a:xfrm>
          <a:prstGeom prst="rect">
            <a:avLst/>
          </a:prstGeom>
          <a:noFill/>
          <a:ln/>
        </p:spPr>
        <p:txBody>
          <a:bodyPr wrap="square" lIns="0" tIns="0" rIns="0" bIns="0" rtlCol="0" anchor="ctr"/>
          <a:lstStyle/>
          <a:p>
            <a:pPr indent="0" marL="0">
              <a:buNone/>
            </a:pPr>
            <a:r>
              <a:rPr lang="en-US" sz="2000" b="1" dirty="0">
                <a:solidFill>
                  <a:srgbClr val="CADCFC"/>
                </a:solidFill>
                <a:latin typeface="Cambria" pitchFamily="34" charset="0"/>
                <a:ea typeface="Cambria" pitchFamily="34" charset="-122"/>
                <a:cs typeface="Cambria" pitchFamily="34" charset="-120"/>
              </a:rPr>
              <a:t>In the repository</a:t>
            </a:r>
            <a:endParaRPr lang="en-US" sz="2000" dirty="0"/>
          </a:p>
        </p:txBody>
      </p:sp>
      <p:sp>
        <p:nvSpPr>
          <p:cNvPr id="10" name="Text 8"/>
          <p:cNvSpPr txBox="1"/>
          <p:nvPr/>
        </p:nvSpPr>
        <p:spPr>
          <a:xfrm>
            <a:off x="6556248" y="4919472"/>
            <a:ext cx="4846320" cy="960120"/>
          </a:xfrm>
          <a:prstGeom prst="rect">
            <a:avLst/>
          </a:prstGeom>
          <a:noFill/>
          <a:ln/>
        </p:spPr>
        <p:txBody>
          <a:bodyPr wrap="square" lIns="0" tIns="0" rIns="0" bIns="0" rtlCol="0" anchor="ctr"/>
          <a:lstStyle/>
          <a:p>
            <a:pPr indent="0" marL="0">
              <a:lnSpc>
                <a:spcPct val="112000"/>
              </a:lnSpc>
              <a:buNone/>
            </a:pPr>
            <a:r>
              <a:rPr lang="en-US" sz="1050" dirty="0">
                <a:solidFill>
                  <a:srgbClr val="9FB3C8"/>
                </a:solidFill>
                <a:latin typeface="Calibri" pitchFamily="34" charset="0"/>
                <a:ea typeface="Calibri" pitchFamily="34" charset="-122"/>
                <a:cs typeface="Calibri" pitchFamily="34" charset="-120"/>
              </a:rPr>
              <a:t>README.md</a:t>
            </a:r>
            <a:endParaRPr lang="en-US" sz="1050" dirty="0"/>
          </a:p>
          <a:p>
            <a:pPr indent="0" marL="0">
              <a:lnSpc>
                <a:spcPct val="112000"/>
              </a:lnSpc>
              <a:buNone/>
            </a:pPr>
            <a:r>
              <a:rPr lang="en-US" sz="1050" dirty="0">
                <a:solidFill>
                  <a:srgbClr val="9FB3C8"/>
                </a:solidFill>
                <a:latin typeface="Calibri" pitchFamily="34" charset="0"/>
                <a:ea typeface="Calibri" pitchFamily="34" charset="-122"/>
                <a:cs typeface="Calibri" pitchFamily="34" charset="-120"/>
              </a:rPr>
              <a:t>docs/GOLDEN_RULES_AND_POKA_YOKE_DESIGN.md</a:t>
            </a:r>
            <a:endParaRPr lang="en-US" sz="1050" dirty="0"/>
          </a:p>
          <a:p>
            <a:pPr indent="0" marL="0">
              <a:lnSpc>
                <a:spcPct val="112000"/>
              </a:lnSpc>
              <a:buNone/>
            </a:pPr>
            <a:r>
              <a:rPr lang="en-US" sz="1050" dirty="0">
                <a:solidFill>
                  <a:srgbClr val="9FB3C8"/>
                </a:solidFill>
                <a:latin typeface="Calibri" pitchFamily="34" charset="0"/>
                <a:ea typeface="Calibri" pitchFamily="34" charset="-122"/>
                <a:cs typeface="Calibri" pitchFamily="34" charset="-120"/>
              </a:rPr>
              <a:t>evidence/fail_closed_demonstration_transcript.txt</a:t>
            </a:r>
            <a:endParaRPr lang="en-US" sz="1050" dirty="0"/>
          </a:p>
          <a:p>
            <a:pPr indent="0" marL="0">
              <a:lnSpc>
                <a:spcPct val="112000"/>
              </a:lnSpc>
              <a:buNone/>
            </a:pPr>
            <a:r>
              <a:rPr lang="en-US" sz="1050" dirty="0">
                <a:solidFill>
                  <a:srgbClr val="9FB3C8"/>
                </a:solidFill>
                <a:latin typeface="Calibri" pitchFamily="34" charset="0"/>
                <a:ea typeface="Calibri" pitchFamily="34" charset="-122"/>
                <a:cs typeface="Calibri" pitchFamily="34" charset="-120"/>
              </a:rPr>
              <a:t>schema-mapping/student_onboarding_schema_mapping.xlsx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Hiring project submission for Habot Connect FZCO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Deployment and Automation Blueprint</dc:title>
  <dc:subject>PptxGenJS Presentation</dc:subject>
  <dc:creator>Anuradha</dc:creator>
  <cp:lastModifiedBy>Anuradha</cp:lastModifiedBy>
  <cp:revision>1</cp:revision>
  <dcterms:created xsi:type="dcterms:W3CDTF">2026-09-12T13:09:40Z</dcterms:created>
  <dcterms:modified xsi:type="dcterms:W3CDTF">2026-09-12T13:09:40Z</dcterms:modified>
</cp:coreProperties>
</file>